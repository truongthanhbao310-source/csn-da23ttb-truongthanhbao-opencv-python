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1_504D8043.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61" r:id="rId4"/>
    <p:sldId id="258" r:id="rId5"/>
    <p:sldId id="262" r:id="rId6"/>
    <p:sldId id="263" r:id="rId7"/>
    <p:sldId id="264" r:id="rId8"/>
    <p:sldId id="295" r:id="rId9"/>
    <p:sldId id="296" r:id="rId10"/>
    <p:sldId id="297" r:id="rId11"/>
    <p:sldId id="265" r:id="rId12"/>
    <p:sldId id="266" r:id="rId13"/>
    <p:sldId id="298" r:id="rId14"/>
    <p:sldId id="299" r:id="rId15"/>
    <p:sldId id="300" r:id="rId16"/>
    <p:sldId id="267" r:id="rId17"/>
    <p:sldId id="301"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4A701D0B-8C69-234D-7898-57B2C8A8A1EF}" name="Thanh Bao Truong" initials="TT" userId="e80a879a9405f3e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9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modernComment_101_504D8043.xml><?xml version="1.0" encoding="utf-8"?>
<p188:cmLst xmlns:a="http://schemas.openxmlformats.org/drawingml/2006/main" xmlns:r="http://schemas.openxmlformats.org/officeDocument/2006/relationships" xmlns:p188="http://schemas.microsoft.com/office/powerpoint/2018/8/main">
  <p188:cm id="{BC654F1A-E931-46F1-990D-CC1E031E59A7}" authorId="{4A701D0B-8C69-234D-7898-57B2C8A8A1EF}" created="2026-01-04T20:55:01.681">
    <pc:sldMkLst xmlns:pc="http://schemas.microsoft.com/office/powerpoint/2013/main/command">
      <pc:docMk/>
      <pc:sldMk cId="1347256387" sldId="257"/>
    </pc:sldMkLst>
    <p188:txBody>
      <a:bodyPr/>
      <a:lstStyle/>
      <a:p>
        <a:r>
          <a:rPr lang="en-US"/>
          <a:t>Csn
</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5B3D23-5876-4EC9-A63A-38619F87BFFD}"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75570-A03E-424D-AE60-BC09F23BCA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1061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5B3D23-5876-4EC9-A63A-38619F87BFFD}"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75570-A03E-424D-AE60-BC09F23BCA61}" type="slidenum">
              <a:rPr lang="en-US" smtClean="0"/>
              <a:t>‹#›</a:t>
            </a:fld>
            <a:endParaRPr lang="en-US"/>
          </a:p>
        </p:txBody>
      </p:sp>
    </p:spTree>
    <p:extLst>
      <p:ext uri="{BB962C8B-B14F-4D97-AF65-F5344CB8AC3E}">
        <p14:creationId xmlns:p14="http://schemas.microsoft.com/office/powerpoint/2010/main" val="3615455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5B3D23-5876-4EC9-A63A-38619F87BFFD}"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75570-A03E-424D-AE60-BC09F23BCA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0491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5B3D23-5876-4EC9-A63A-38619F87BFFD}" type="datetimeFigureOut">
              <a:rPr lang="en-US" smtClean="0"/>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75570-A03E-424D-AE60-BC09F23BCA61}" type="slidenum">
              <a:rPr lang="en-US" smtClean="0"/>
              <a:t>‹#›</a:t>
            </a:fld>
            <a:endParaRPr lang="en-US"/>
          </a:p>
        </p:txBody>
      </p:sp>
    </p:spTree>
    <p:extLst>
      <p:ext uri="{BB962C8B-B14F-4D97-AF65-F5344CB8AC3E}">
        <p14:creationId xmlns:p14="http://schemas.microsoft.com/office/powerpoint/2010/main" val="3402736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5B3D23-5876-4EC9-A63A-38619F87BFFD}" type="datetimeFigureOut">
              <a:rPr lang="en-US" smtClean="0"/>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975570-A03E-424D-AE60-BC09F23BCA61}" type="slidenum">
              <a:rPr lang="en-US" smtClean="0"/>
              <a:t>‹#›</a:t>
            </a:fld>
            <a:endParaRPr lang="en-US"/>
          </a:p>
        </p:txBody>
      </p:sp>
    </p:spTree>
    <p:extLst>
      <p:ext uri="{BB962C8B-B14F-4D97-AF65-F5344CB8AC3E}">
        <p14:creationId xmlns:p14="http://schemas.microsoft.com/office/powerpoint/2010/main" val="2319785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5B3D23-5876-4EC9-A63A-38619F87BFFD}" type="datetimeFigureOut">
              <a:rPr lang="en-US" smtClean="0"/>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975570-A03E-424D-AE60-BC09F23BCA61}" type="slidenum">
              <a:rPr lang="en-US" smtClean="0"/>
              <a:t>‹#›</a:t>
            </a:fld>
            <a:endParaRPr lang="en-US"/>
          </a:p>
        </p:txBody>
      </p:sp>
    </p:spTree>
    <p:extLst>
      <p:ext uri="{BB962C8B-B14F-4D97-AF65-F5344CB8AC3E}">
        <p14:creationId xmlns:p14="http://schemas.microsoft.com/office/powerpoint/2010/main" val="94217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35B3D23-5876-4EC9-A63A-38619F87BFFD}" type="datetimeFigureOut">
              <a:rPr lang="en-US" smtClean="0"/>
              <a:t>1/5/2026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7975570-A03E-424D-AE60-BC09F23BCA61}" type="slidenum">
              <a:rPr lang="en-US" smtClean="0"/>
              <a:t>‹#›</a:t>
            </a:fld>
            <a:endParaRPr lang="en-US"/>
          </a:p>
        </p:txBody>
      </p:sp>
    </p:spTree>
    <p:extLst>
      <p:ext uri="{BB962C8B-B14F-4D97-AF65-F5344CB8AC3E}">
        <p14:creationId xmlns:p14="http://schemas.microsoft.com/office/powerpoint/2010/main" val="408239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35B3D23-5876-4EC9-A63A-38619F87BFFD}" type="datetimeFigureOut">
              <a:rPr lang="en-US" smtClean="0"/>
              <a:t>1/5/2026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7975570-A03E-424D-AE60-BC09F23BCA61}" type="slidenum">
              <a:rPr lang="en-US" smtClean="0"/>
              <a:t>‹#›</a:t>
            </a:fld>
            <a:endParaRPr lang="en-US"/>
          </a:p>
        </p:txBody>
      </p:sp>
    </p:spTree>
    <p:extLst>
      <p:ext uri="{BB962C8B-B14F-4D97-AF65-F5344CB8AC3E}">
        <p14:creationId xmlns:p14="http://schemas.microsoft.com/office/powerpoint/2010/main" val="3952982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5B3D23-5876-4EC9-A63A-38619F87BFFD}" type="datetimeFigureOut">
              <a:rPr lang="en-US" smtClean="0"/>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75570-A03E-424D-AE60-BC09F23BCA61}" type="slidenum">
              <a:rPr lang="en-US" smtClean="0"/>
              <a:t>‹#›</a:t>
            </a:fld>
            <a:endParaRPr lang="en-US"/>
          </a:p>
        </p:txBody>
      </p:sp>
    </p:spTree>
    <p:extLst>
      <p:ext uri="{BB962C8B-B14F-4D97-AF65-F5344CB8AC3E}">
        <p14:creationId xmlns:p14="http://schemas.microsoft.com/office/powerpoint/2010/main" val="405467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5B3D23-5876-4EC9-A63A-38619F87BFFD}"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75570-A03E-424D-AE60-BC09F23BCA61}" type="slidenum">
              <a:rPr lang="en-US" smtClean="0"/>
              <a:t>‹#›</a:t>
            </a:fld>
            <a:endParaRPr lang="en-US"/>
          </a:p>
        </p:txBody>
      </p:sp>
    </p:spTree>
    <p:extLst>
      <p:ext uri="{BB962C8B-B14F-4D97-AF65-F5344CB8AC3E}">
        <p14:creationId xmlns:p14="http://schemas.microsoft.com/office/powerpoint/2010/main" val="3842144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5B3D23-5876-4EC9-A63A-38619F87BFFD}"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75570-A03E-424D-AE60-BC09F23BCA61}" type="slidenum">
              <a:rPr lang="en-US" smtClean="0"/>
              <a:t>‹#›</a:t>
            </a:fld>
            <a:endParaRPr lang="en-US"/>
          </a:p>
        </p:txBody>
      </p:sp>
    </p:spTree>
    <p:extLst>
      <p:ext uri="{BB962C8B-B14F-4D97-AF65-F5344CB8AC3E}">
        <p14:creationId xmlns:p14="http://schemas.microsoft.com/office/powerpoint/2010/main" val="3637272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35B3D23-5876-4EC9-A63A-38619F87BFFD}" type="datetimeFigureOut">
              <a:rPr lang="en-US" smtClean="0"/>
              <a:t>1/5/2026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7975570-A03E-424D-AE60-BC09F23BCA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44600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1_504D8043.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0F12F-DBDC-143D-5236-A39B84D627B0}"/>
              </a:ext>
            </a:extLst>
          </p:cNvPr>
          <p:cNvSpPr>
            <a:spLocks noGrp="1"/>
          </p:cNvSpPr>
          <p:nvPr>
            <p:ph type="ctrTitle"/>
          </p:nvPr>
        </p:nvSpPr>
        <p:spPr>
          <a:xfrm>
            <a:off x="886618" y="2169983"/>
            <a:ext cx="10874477" cy="2387600"/>
          </a:xfrm>
        </p:spPr>
        <p:txBody>
          <a:bodyPr>
            <a:normAutofit/>
          </a:bodyPr>
          <a:lstStyle/>
          <a:p>
            <a:r>
              <a:rPr lang="en-US" sz="4400" b="1" dirty="0">
                <a:latin typeface="Arial" panose="020B0604020202020204" pitchFamily="34" charset="0"/>
                <a:cs typeface="Arial" panose="020B0604020202020204" pitchFamily="34" charset="0"/>
              </a:rPr>
              <a:t>Tìm </a:t>
            </a:r>
            <a:r>
              <a:rPr lang="en-US" sz="4400" b="1" dirty="0" err="1">
                <a:latin typeface="Arial" panose="020B0604020202020204" pitchFamily="34" charset="0"/>
                <a:cs typeface="Arial" panose="020B0604020202020204" pitchFamily="34" charset="0"/>
              </a:rPr>
              <a:t>hiểu</a:t>
            </a:r>
            <a:r>
              <a:rPr lang="en-US" sz="4400" b="1" dirty="0">
                <a:latin typeface="Arial" panose="020B0604020202020204" pitchFamily="34" charset="0"/>
                <a:cs typeface="Arial" panose="020B0604020202020204" pitchFamily="34" charset="0"/>
              </a:rPr>
              <a:t> </a:t>
            </a:r>
            <a:r>
              <a:rPr lang="en-US" sz="4400" b="1" dirty="0" err="1">
                <a:latin typeface="Arial" panose="020B0604020202020204" pitchFamily="34" charset="0"/>
                <a:cs typeface="Arial" panose="020B0604020202020204" pitchFamily="34" charset="0"/>
              </a:rPr>
              <a:t>và</a:t>
            </a:r>
            <a:r>
              <a:rPr lang="en-US" sz="4400" b="1" dirty="0">
                <a:latin typeface="Arial" panose="020B0604020202020204" pitchFamily="34" charset="0"/>
                <a:cs typeface="Arial" panose="020B0604020202020204" pitchFamily="34" charset="0"/>
              </a:rPr>
              <a:t> </a:t>
            </a:r>
            <a:r>
              <a:rPr lang="en-US" sz="4400" b="1" dirty="0" err="1">
                <a:latin typeface="Arial" panose="020B0604020202020204" pitchFamily="34" charset="0"/>
                <a:cs typeface="Arial" panose="020B0604020202020204" pitchFamily="34" charset="0"/>
              </a:rPr>
              <a:t>ứng</a:t>
            </a:r>
            <a:r>
              <a:rPr lang="en-US" sz="4400" b="1" dirty="0">
                <a:latin typeface="Arial" panose="020B0604020202020204" pitchFamily="34" charset="0"/>
                <a:cs typeface="Arial" panose="020B0604020202020204" pitchFamily="34" charset="0"/>
              </a:rPr>
              <a:t> </a:t>
            </a:r>
            <a:r>
              <a:rPr lang="en-US" sz="4400" b="1" dirty="0" err="1">
                <a:latin typeface="Arial" panose="020B0604020202020204" pitchFamily="34" charset="0"/>
                <a:cs typeface="Arial" panose="020B0604020202020204" pitchFamily="34" charset="0"/>
              </a:rPr>
              <a:t>dụng</a:t>
            </a:r>
            <a:r>
              <a:rPr lang="en-US" sz="4400" b="1" dirty="0">
                <a:latin typeface="Arial" panose="020B0604020202020204" pitchFamily="34" charset="0"/>
                <a:cs typeface="Arial" panose="020B0604020202020204" pitchFamily="34" charset="0"/>
              </a:rPr>
              <a:t> OpenCV </a:t>
            </a:r>
            <a:br>
              <a:rPr lang="en-US" sz="4400" b="1" dirty="0">
                <a:latin typeface="Arial" panose="020B0604020202020204" pitchFamily="34" charset="0"/>
                <a:cs typeface="Arial" panose="020B0604020202020204" pitchFamily="34" charset="0"/>
              </a:rPr>
            </a:br>
            <a:r>
              <a:rPr lang="en-US" sz="4400" b="1" dirty="0" err="1">
                <a:latin typeface="Arial" panose="020B0604020202020204" pitchFamily="34" charset="0"/>
                <a:cs typeface="Arial" panose="020B0604020202020204" pitchFamily="34" charset="0"/>
              </a:rPr>
              <a:t>trong</a:t>
            </a:r>
            <a:r>
              <a:rPr lang="en-US" sz="4400" b="1" dirty="0">
                <a:latin typeface="Arial" panose="020B0604020202020204" pitchFamily="34" charset="0"/>
                <a:cs typeface="Arial" panose="020B0604020202020204" pitchFamily="34" charset="0"/>
              </a:rPr>
              <a:t> </a:t>
            </a:r>
            <a:r>
              <a:rPr lang="en-US" sz="4400" b="1" dirty="0" err="1">
                <a:latin typeface="Arial" panose="020B0604020202020204" pitchFamily="34" charset="0"/>
                <a:cs typeface="Arial" panose="020B0604020202020204" pitchFamily="34" charset="0"/>
              </a:rPr>
              <a:t>phát</a:t>
            </a:r>
            <a:r>
              <a:rPr lang="en-US" sz="4400" b="1" dirty="0">
                <a:latin typeface="Arial" panose="020B0604020202020204" pitchFamily="34" charset="0"/>
                <a:cs typeface="Arial" panose="020B0604020202020204" pitchFamily="34" charset="0"/>
              </a:rPr>
              <a:t> </a:t>
            </a:r>
            <a:r>
              <a:rPr lang="en-US" sz="4400" b="1" dirty="0" err="1">
                <a:latin typeface="Arial" panose="020B0604020202020204" pitchFamily="34" charset="0"/>
                <a:cs typeface="Arial" panose="020B0604020202020204" pitchFamily="34" charset="0"/>
              </a:rPr>
              <a:t>hiện</a:t>
            </a:r>
            <a:r>
              <a:rPr lang="en-US" sz="4400" b="1" dirty="0">
                <a:latin typeface="Arial" panose="020B0604020202020204" pitchFamily="34" charset="0"/>
                <a:cs typeface="Arial" panose="020B0604020202020204" pitchFamily="34" charset="0"/>
              </a:rPr>
              <a:t> </a:t>
            </a:r>
            <a:r>
              <a:rPr lang="en-US" sz="4000" b="1" dirty="0" err="1">
                <a:latin typeface="Arial" panose="020B0604020202020204" pitchFamily="34" charset="0"/>
                <a:cs typeface="Arial" panose="020B0604020202020204" pitchFamily="34" charset="0"/>
              </a:rPr>
              <a:t>khuôn</a:t>
            </a:r>
            <a:r>
              <a:rPr lang="en-US" sz="4400" b="1" dirty="0">
                <a:latin typeface="Arial" panose="020B0604020202020204" pitchFamily="34" charset="0"/>
                <a:cs typeface="Arial" panose="020B0604020202020204" pitchFamily="34" charset="0"/>
              </a:rPr>
              <a:t> </a:t>
            </a:r>
            <a:r>
              <a:rPr lang="en-US" sz="4400" b="1" dirty="0" err="1">
                <a:latin typeface="Arial" panose="020B0604020202020204" pitchFamily="34" charset="0"/>
                <a:cs typeface="Arial" panose="020B0604020202020204" pitchFamily="34" charset="0"/>
              </a:rPr>
              <a:t>mặt</a:t>
            </a:r>
            <a:r>
              <a:rPr lang="en-US" sz="4400" b="1" dirty="0">
                <a:latin typeface="Arial" panose="020B0604020202020204" pitchFamily="34" charset="0"/>
                <a:cs typeface="Arial" panose="020B0604020202020204" pitchFamily="34" charset="0"/>
              </a:rPr>
              <a:t> </a:t>
            </a:r>
            <a:r>
              <a:rPr lang="en-US" sz="4400" b="1" dirty="0" err="1">
                <a:latin typeface="Arial" panose="020B0604020202020204" pitchFamily="34" charset="0"/>
                <a:cs typeface="Arial" panose="020B0604020202020204" pitchFamily="34" charset="0"/>
              </a:rPr>
              <a:t>từ</a:t>
            </a:r>
            <a:r>
              <a:rPr lang="en-US" sz="4400" b="1" dirty="0">
                <a:latin typeface="Arial" panose="020B0604020202020204" pitchFamily="34" charset="0"/>
                <a:cs typeface="Arial" panose="020B0604020202020204" pitchFamily="34" charset="0"/>
              </a:rPr>
              <a:t> webcam</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FB5ADBDA-29CC-07E1-C650-38F5BC186696}"/>
              </a:ext>
            </a:extLst>
          </p:cNvPr>
          <p:cNvSpPr>
            <a:spLocks noGrp="1"/>
          </p:cNvSpPr>
          <p:nvPr>
            <p:ph type="subTitle" idx="1"/>
          </p:nvPr>
        </p:nvSpPr>
        <p:spPr>
          <a:xfrm>
            <a:off x="1199535" y="4557583"/>
            <a:ext cx="3873910" cy="1655762"/>
          </a:xfrm>
        </p:spPr>
        <p:txBody>
          <a:bodyPr>
            <a:normAutofit/>
          </a:bodyPr>
          <a:lstStyle/>
          <a:p>
            <a:pPr algn="l"/>
            <a:r>
              <a:rPr lang="en-US" sz="2000" dirty="0">
                <a:latin typeface="Arial" panose="020B0604020202020204" pitchFamily="34" charset="0"/>
                <a:cs typeface="Arial" panose="020B0604020202020204" pitchFamily="34" charset="0"/>
              </a:rPr>
              <a:t>Sinh </a:t>
            </a:r>
            <a:r>
              <a:rPr lang="en-US" sz="2000" dirty="0" err="1">
                <a:latin typeface="Arial" panose="020B0604020202020204" pitchFamily="34" charset="0"/>
                <a:cs typeface="Arial" panose="020B0604020202020204" pitchFamily="34" charset="0"/>
              </a:rPr>
              <a:t>viên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a:t>
            </a:r>
            <a:br>
              <a:rPr lang="en-US" sz="2000" dirty="0">
                <a:latin typeface="Arial" panose="020B0604020202020204" pitchFamily="34" charset="0"/>
                <a:cs typeface="Arial" panose="020B0604020202020204" pitchFamily="34" charset="0"/>
              </a:rPr>
            </a:br>
            <a:r>
              <a:rPr lang="en-US" sz="2000" dirty="0" err="1">
                <a:latin typeface="Arial" panose="020B0604020202020204" pitchFamily="34" charset="0"/>
                <a:cs typeface="Arial" panose="020B0604020202020204" pitchFamily="34" charset="0"/>
              </a:rPr>
              <a:t>Họ</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tên:Trương</a:t>
            </a:r>
            <a:r>
              <a:rPr lang="en-US" sz="2000" dirty="0">
                <a:latin typeface="Arial" panose="020B0604020202020204" pitchFamily="34" charset="0"/>
                <a:cs typeface="Arial" panose="020B0604020202020204" pitchFamily="34" charset="0"/>
              </a:rPr>
              <a:t> Thanh Bảo</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Lớp:DA23TTB</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MSSV:110123074</a:t>
            </a:r>
          </a:p>
        </p:txBody>
      </p:sp>
      <p:pic>
        <p:nvPicPr>
          <p:cNvPr id="4" name="Picture 3">
            <a:extLst>
              <a:ext uri="{FF2B5EF4-FFF2-40B4-BE49-F238E27FC236}">
                <a16:creationId xmlns:a16="http://schemas.microsoft.com/office/drawing/2014/main" id="{DE1B5C16-EF31-C8DC-FC7F-72BB05B233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73237"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0DF13223-7E09-1B24-8209-D1BAC99BE502}"/>
              </a:ext>
            </a:extLst>
          </p:cNvPr>
          <p:cNvSpPr txBox="1"/>
          <p:nvPr/>
        </p:nvSpPr>
        <p:spPr>
          <a:xfrm>
            <a:off x="1966451" y="448117"/>
            <a:ext cx="9887821" cy="707886"/>
          </a:xfrm>
          <a:prstGeom prst="rect">
            <a:avLst/>
          </a:prstGeom>
          <a:noFill/>
        </p:spPr>
        <p:txBody>
          <a:bodyPr wrap="square">
            <a:spAutoFit/>
          </a:bodyPr>
          <a:lstStyle/>
          <a:p>
            <a:r>
              <a:rPr lang="en-US" sz="4000" b="1" dirty="0">
                <a:latin typeface="Arial" panose="020B0604020202020204" pitchFamily="34" charset="0"/>
                <a:cs typeface="Arial" panose="020B0604020202020204" pitchFamily="34" charset="0"/>
              </a:rPr>
              <a:t>TRƯỜNG CÔNG NGHỆ VÀ KỸ THUẬT</a:t>
            </a:r>
          </a:p>
        </p:txBody>
      </p:sp>
      <p:sp>
        <p:nvSpPr>
          <p:cNvPr id="8" name="TextBox 7">
            <a:extLst>
              <a:ext uri="{FF2B5EF4-FFF2-40B4-BE49-F238E27FC236}">
                <a16:creationId xmlns:a16="http://schemas.microsoft.com/office/drawing/2014/main" id="{E3E94337-4CBD-6574-490A-002F81081A82}"/>
              </a:ext>
            </a:extLst>
          </p:cNvPr>
          <p:cNvSpPr txBox="1"/>
          <p:nvPr/>
        </p:nvSpPr>
        <p:spPr>
          <a:xfrm>
            <a:off x="3726427" y="1260361"/>
            <a:ext cx="6096000" cy="707886"/>
          </a:xfrm>
          <a:prstGeom prst="rect">
            <a:avLst/>
          </a:prstGeom>
          <a:noFill/>
        </p:spPr>
        <p:txBody>
          <a:bodyPr wrap="square">
            <a:spAutoFit/>
          </a:bodyPr>
          <a:lstStyle/>
          <a:p>
            <a:r>
              <a:rPr lang="en-US" sz="4000" b="1" dirty="0">
                <a:latin typeface="Arial" panose="020B0604020202020204" pitchFamily="34" charset="0"/>
                <a:cs typeface="Arial" panose="020B0604020202020204" pitchFamily="34" charset="0"/>
              </a:rPr>
              <a:t>ĐỒ ÁN CƠ SỞ NGÀNH</a:t>
            </a:r>
          </a:p>
        </p:txBody>
      </p:sp>
    </p:spTree>
    <p:extLst>
      <p:ext uri="{BB962C8B-B14F-4D97-AF65-F5344CB8AC3E}">
        <p14:creationId xmlns:p14="http://schemas.microsoft.com/office/powerpoint/2010/main" val="1876791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63DC2-A825-9ED9-A745-1827837C1697}"/>
              </a:ext>
            </a:extLst>
          </p:cNvPr>
          <p:cNvSpPr>
            <a:spLocks noGrp="1"/>
          </p:cNvSpPr>
          <p:nvPr>
            <p:ph type="title"/>
          </p:nvPr>
        </p:nvSpPr>
        <p:spPr/>
        <p:txBody>
          <a:bodyPr>
            <a:normAutofit/>
          </a:bodyPr>
          <a:lstStyle/>
          <a:p>
            <a:r>
              <a:rPr lang="vi-VN" sz="4000" b="1" dirty="0">
                <a:latin typeface="Arial" panose="020B0604020202020204" pitchFamily="34" charset="0"/>
                <a:cs typeface="Arial" panose="020B0604020202020204" pitchFamily="34" charset="0"/>
              </a:rPr>
              <a:t>NỘI DUNG TRÌNH BÀY</a:t>
            </a:r>
            <a:endParaRPr lang="en-US"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BBAD9ED-22A9-4155-E86B-DF717A2BAF31}"/>
              </a:ext>
            </a:extLst>
          </p:cNvPr>
          <p:cNvSpPr>
            <a:spLocks noGrp="1"/>
          </p:cNvSpPr>
          <p:nvPr>
            <p:ph idx="1"/>
          </p:nvPr>
        </p:nvSpPr>
        <p:spPr/>
        <p:txBody>
          <a:bodyPr/>
          <a:lstStyle/>
          <a:p>
            <a:pPr marL="0" indent="0">
              <a:buNone/>
            </a:pPr>
            <a:r>
              <a:rPr lang="en-US" dirty="0">
                <a:latin typeface="Arial" panose="020B0604020202020204" pitchFamily="34" charset="0"/>
                <a:cs typeface="Arial" panose="020B0604020202020204" pitchFamily="34" charset="0"/>
              </a:rPr>
              <a:t>CHƯƠNG 1:TỔNG QUAN</a:t>
            </a:r>
          </a:p>
          <a:p>
            <a:pPr marL="0" indent="0">
              <a:buNone/>
            </a:pPr>
            <a:r>
              <a:rPr lang="en-US" dirty="0">
                <a:latin typeface="Arial" panose="020B0604020202020204" pitchFamily="34" charset="0"/>
                <a:cs typeface="Arial" panose="020B0604020202020204" pitchFamily="34" charset="0"/>
              </a:rPr>
              <a:t>CHƯƠNG 2: NGHIÊN CỨU LÝ THUYẾT</a:t>
            </a:r>
          </a:p>
          <a:p>
            <a:pPr marL="0" indent="0">
              <a:buNone/>
            </a:pPr>
            <a:r>
              <a:rPr lang="en-US" dirty="0">
                <a:latin typeface="Arial" panose="020B0604020202020204" pitchFamily="34" charset="0"/>
                <a:cs typeface="Arial" panose="020B0604020202020204" pitchFamily="34" charset="0"/>
              </a:rPr>
              <a:t>CHƯƠNG 3: HIỆN THỰC HÓA NGHIÊN CỨU</a:t>
            </a:r>
          </a:p>
          <a:p>
            <a:pPr marL="0" indent="0">
              <a:buNone/>
            </a:pPr>
            <a:r>
              <a:rPr lang="en-US" dirty="0">
                <a:latin typeface="Arial" panose="020B0604020202020204" pitchFamily="34" charset="0"/>
                <a:cs typeface="Arial" panose="020B0604020202020204" pitchFamily="34" charset="0"/>
              </a:rPr>
              <a:t>CHƯƠNG 4:</a:t>
            </a:r>
            <a:r>
              <a:rPr lang="x-none" b="1" dirty="0">
                <a:latin typeface="Arial" panose="020B0604020202020204" pitchFamily="34" charset="0"/>
                <a:cs typeface="Arial" panose="020B0604020202020204" pitchFamily="34" charset="0"/>
              </a:rPr>
              <a:t> </a:t>
            </a:r>
            <a:r>
              <a:rPr lang="x-none" dirty="0">
                <a:latin typeface="Arial" panose="020B0604020202020204" pitchFamily="34" charset="0"/>
                <a:cs typeface="Arial" panose="020B0604020202020204" pitchFamily="34" charset="0"/>
              </a:rPr>
              <a:t>KẾT QUẢ NGHIÊN CỨU</a:t>
            </a: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CHƯƠNG 5: KẾT LUẬN VÀ HƯỚNG PHÁT TRIỂN</a:t>
            </a:r>
          </a:p>
        </p:txBody>
      </p:sp>
    </p:spTree>
    <p:extLst>
      <p:ext uri="{BB962C8B-B14F-4D97-AF65-F5344CB8AC3E}">
        <p14:creationId xmlns:p14="http://schemas.microsoft.com/office/powerpoint/2010/main" val="1347256387"/>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A5F2E-4792-5568-C278-FF1F6F66999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CHƯƠNG 1:TỔNG QUAN</a:t>
            </a:r>
            <a:endParaRPr lang="en-US" dirty="0"/>
          </a:p>
        </p:txBody>
      </p:sp>
      <p:sp>
        <p:nvSpPr>
          <p:cNvPr id="3" name="Content Placeholder 2">
            <a:extLst>
              <a:ext uri="{FF2B5EF4-FFF2-40B4-BE49-F238E27FC236}">
                <a16:creationId xmlns:a16="http://schemas.microsoft.com/office/drawing/2014/main" id="{D4E26325-4DBA-841E-4B13-9E4B15E2307D}"/>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235032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7503C-6F77-28EA-B4DC-687B2ABB5096}"/>
              </a:ext>
            </a:extLst>
          </p:cNvPr>
          <p:cNvSpPr>
            <a:spLocks noGrp="1"/>
          </p:cNvSpPr>
          <p:nvPr>
            <p:ph type="title"/>
          </p:nvPr>
        </p:nvSpPr>
        <p:spPr>
          <a:xfrm>
            <a:off x="1036320" y="383458"/>
            <a:ext cx="10852355" cy="1904727"/>
          </a:xfrm>
        </p:spPr>
        <p:txBody>
          <a:bodyPr>
            <a:normAutofit/>
          </a:bodyPr>
          <a:lstStyle/>
          <a:p>
            <a:br>
              <a:rPr lang="en-US" dirty="0">
                <a:latin typeface="Arial" panose="020B0604020202020204" pitchFamily="34" charset="0"/>
                <a:cs typeface="Arial" panose="020B0604020202020204" pitchFamily="34" charset="0"/>
              </a:rPr>
            </a:br>
            <a:r>
              <a:rPr lang="x-none" sz="3600" dirty="0">
                <a:latin typeface="Arial" panose="020B0604020202020204" pitchFamily="34" charset="0"/>
                <a:cs typeface="Arial" panose="020B0604020202020204" pitchFamily="34" charset="0"/>
              </a:rPr>
              <a:t>Đặt vấn đề</a:t>
            </a:r>
            <a:br>
              <a:rPr lang="en-US" dirty="0"/>
            </a:br>
            <a:endParaRPr lang="en-US" dirty="0"/>
          </a:p>
        </p:txBody>
      </p:sp>
      <p:sp>
        <p:nvSpPr>
          <p:cNvPr id="3" name="Content Placeholder 2">
            <a:extLst>
              <a:ext uri="{FF2B5EF4-FFF2-40B4-BE49-F238E27FC236}">
                <a16:creationId xmlns:a16="http://schemas.microsoft.com/office/drawing/2014/main" id="{9AF0BEC9-0183-F7C1-3B6A-D1C943A3063B}"/>
              </a:ext>
            </a:extLst>
          </p:cNvPr>
          <p:cNvSpPr>
            <a:spLocks noGrp="1"/>
          </p:cNvSpPr>
          <p:nvPr>
            <p:ph idx="1"/>
          </p:nvPr>
        </p:nvSpPr>
        <p:spPr/>
        <p:txBody>
          <a:bodyPr/>
          <a:lstStyle/>
          <a:p>
            <a:pPr marL="0" indent="0">
              <a:buNone/>
            </a:pPr>
            <a:r>
              <a:rPr lang="en-US" dirty="0">
                <a:latin typeface="Arial" panose="020B0604020202020204" pitchFamily="34" charset="0"/>
                <a:cs typeface="Arial" panose="020B0604020202020204" pitchFamily="34" charset="0"/>
              </a:rPr>
              <a:t>Trong </a:t>
            </a:r>
            <a:r>
              <a:rPr lang="en-US" dirty="0" err="1">
                <a:latin typeface="Arial" panose="020B0604020202020204" pitchFamily="34" charset="0"/>
                <a:cs typeface="Arial" panose="020B0604020202020204" pitchFamily="34" charset="0"/>
              </a:rPr>
              <a:t>bối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tin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tuệ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tạo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mẽ</a:t>
            </a:r>
            <a:r>
              <a:rPr lang="en-US" b="1"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b="1"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(Computer Vision) </a:t>
            </a:r>
            <a:r>
              <a:rPr lang="en-US" dirty="0" err="1">
                <a:latin typeface="Arial" panose="020B0604020202020204" pitchFamily="34" charset="0"/>
                <a:cs typeface="Arial" panose="020B0604020202020204" pitchFamily="34" charset="0"/>
              </a:rPr>
              <a:t>ngày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đóng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trò</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trọng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lĩnh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như</a:t>
            </a:r>
            <a:r>
              <a:rPr lang="en-US" dirty="0">
                <a:latin typeface="Arial" panose="020B0604020202020204" pitchFamily="34" charset="0"/>
                <a:cs typeface="Arial" panose="020B0604020202020204" pitchFamily="34" charset="0"/>
              </a:rPr>
              <a:t>: an </a:t>
            </a:r>
            <a:r>
              <a:rPr lang="en-US" dirty="0" err="1">
                <a:latin typeface="Arial" panose="020B0604020202020204" pitchFamily="34" charset="0"/>
                <a:cs typeface="Arial" panose="020B0604020202020204" pitchFamily="34" charset="0"/>
              </a:rPr>
              <a:t>ninh</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giám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trắc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học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Trong </a:t>
            </a:r>
            <a:r>
              <a:rPr lang="en-US" dirty="0" err="1">
                <a:latin typeface="Arial" panose="020B0604020202020204" pitchFamily="34" charset="0"/>
                <a:cs typeface="Arial" panose="020B0604020202020204" pitchFamily="34" charset="0"/>
              </a:rPr>
              <a:t>đó</a:t>
            </a:r>
            <a:r>
              <a:rPr lang="en-US" b="1"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một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tảng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cảm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xúc</a:t>
            </a:r>
            <a:r>
              <a:rPr lang="en-US" dirty="0">
                <a:latin typeface="Arial" panose="020B0604020202020204" pitchFamily="34" charset="0"/>
                <a:cs typeface="Arial" panose="020B0604020202020204" pitchFamily="34" charset="0"/>
              </a:rPr>
              <a:t> hay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dõi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hành</a:t>
            </a:r>
            <a:r>
              <a:rPr lang="en-US" dirty="0">
                <a:latin typeface="Arial" panose="020B0604020202020204" pitchFamily="34" charset="0"/>
                <a:cs typeface="Arial" panose="020B0604020202020204" pitchFamily="34" charset="0"/>
              </a:rPr>
              <a:t> vi.</a:t>
            </a:r>
          </a:p>
          <a:p>
            <a:endParaRPr lang="en-US" dirty="0"/>
          </a:p>
        </p:txBody>
      </p:sp>
    </p:spTree>
    <p:extLst>
      <p:ext uri="{BB962C8B-B14F-4D97-AF65-F5344CB8AC3E}">
        <p14:creationId xmlns:p14="http://schemas.microsoft.com/office/powerpoint/2010/main" val="4218817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E736-AA33-051C-F664-94FB9F74AB07}"/>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Mục đích nghiên cứu</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E529686-4A33-8454-D235-4FCCCD628600}"/>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-Tìm </a:t>
            </a:r>
            <a:r>
              <a:rPr lang="en-US" dirty="0" err="1">
                <a:latin typeface="Arial" panose="020B0604020202020204" pitchFamily="34" charset="0"/>
                <a:cs typeface="Arial" panose="020B0604020202020204" pitchFamily="34" charset="0"/>
              </a:rPr>
              <a:t>hiểu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thuyết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Nghiên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cứu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viện</a:t>
            </a:r>
            <a:r>
              <a:rPr lang="en-US" dirty="0">
                <a:latin typeface="Arial" panose="020B0604020202020204" pitchFamily="34" charset="0"/>
                <a:cs typeface="Arial" panose="020B0604020202020204" pitchFamily="34" charset="0"/>
              </a:rPr>
              <a:t> OpenCV, </a:t>
            </a:r>
            <a:r>
              <a:rPr lang="en-US" dirty="0" err="1">
                <a:latin typeface="Arial" panose="020B0604020202020204" pitchFamily="34" charset="0"/>
                <a:cs typeface="Arial" panose="020B0604020202020204" pitchFamily="34" charset="0"/>
              </a:rPr>
              <a:t>cách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cụ</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hỗ</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OpenCV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xây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dựng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webcam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Đánh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nhau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góc</a:t>
            </a:r>
            <a:r>
              <a:rPr lang="en-US" dirty="0">
                <a:latin typeface="Arial" panose="020B0604020202020204" pitchFamily="34" charset="0"/>
                <a:cs typeface="Arial" panose="020B0604020202020204" pitchFamily="34" charset="0"/>
              </a:rPr>
              <a:t> quay, </a:t>
            </a:r>
            <a:r>
              <a:rPr lang="en-US" dirty="0" err="1">
                <a:latin typeface="Arial" panose="020B0604020202020204" pitchFamily="34" charset="0"/>
                <a:cs typeface="Arial" panose="020B0604020202020204" pitchFamily="34" charset="0"/>
              </a:rPr>
              <a:t>khoảng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tảng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nâng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tương</a:t>
            </a:r>
            <a:r>
              <a:rPr lang="en-US" dirty="0">
                <a:latin typeface="Arial" panose="020B0604020202020204" pitchFamily="34" charset="0"/>
                <a:cs typeface="Arial" panose="020B0604020202020204" pitchFamily="34" charset="0"/>
              </a:rPr>
              <a:t> lai.</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4537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F32D2-6489-D843-4D10-6D387C556C04}"/>
              </a:ext>
            </a:extLst>
          </p:cNvPr>
          <p:cNvSpPr>
            <a:spLocks noGrp="1"/>
          </p:cNvSpPr>
          <p:nvPr>
            <p:ph type="title"/>
          </p:nvPr>
        </p:nvSpPr>
        <p:spPr>
          <a:xfrm>
            <a:off x="304800" y="286603"/>
            <a:ext cx="11887200" cy="1450757"/>
          </a:xfrm>
        </p:spPr>
        <p:txBody>
          <a:bodyPr/>
          <a:lstStyle/>
          <a:p>
            <a:r>
              <a:rPr lang="en-US" b="1" dirty="0">
                <a:latin typeface="Arial" panose="020B0604020202020204" pitchFamily="34" charset="0"/>
                <a:cs typeface="Arial" panose="020B0604020202020204" pitchFamily="34" charset="0"/>
              </a:rPr>
              <a:t>CHƯƠNG 2:NGHIÊN CỨU LÝ THUYẾT</a:t>
            </a:r>
          </a:p>
        </p:txBody>
      </p:sp>
      <p:sp>
        <p:nvSpPr>
          <p:cNvPr id="3" name="Content Placeholder 2">
            <a:extLst>
              <a:ext uri="{FF2B5EF4-FFF2-40B4-BE49-F238E27FC236}">
                <a16:creationId xmlns:a16="http://schemas.microsoft.com/office/drawing/2014/main" id="{BBE717B8-EC62-C12F-9A75-93689DAD155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912969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2" name="Rectangle 1031">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AD9BDA-14E1-522F-E2FB-213744401EFF}"/>
              </a:ext>
            </a:extLst>
          </p:cNvPr>
          <p:cNvSpPr>
            <a:spLocks noGrp="1"/>
          </p:cNvSpPr>
          <p:nvPr>
            <p:ph type="title"/>
          </p:nvPr>
        </p:nvSpPr>
        <p:spPr>
          <a:xfrm>
            <a:off x="6411685" y="634946"/>
            <a:ext cx="5127171" cy="1450757"/>
          </a:xfrm>
        </p:spPr>
        <p:txBody>
          <a:bodyPr>
            <a:normAutofit/>
          </a:bodyPr>
          <a:lstStyle/>
          <a:p>
            <a:r>
              <a:rPr lang="x-none" b="1" dirty="0"/>
              <a:t>Tổng quan về thị giác máy tính</a:t>
            </a:r>
            <a:endParaRPr lang="en-US" dirty="0"/>
          </a:p>
        </p:txBody>
      </p:sp>
      <p:pic>
        <p:nvPicPr>
          <p:cNvPr id="1027" name="Picture 1" descr="IMG_256">
            <a:extLst>
              <a:ext uri="{FF2B5EF4-FFF2-40B4-BE49-F238E27FC236}">
                <a16:creationId xmlns:a16="http://schemas.microsoft.com/office/drawing/2014/main" id="{8603E300-B06E-CCBB-918A-30F118B15D2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192" y="1735710"/>
            <a:ext cx="5451627" cy="306653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4" name="Straight Connector 1033">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44C6DD6-F303-FD4A-27C9-E87BAFAA28CE}"/>
              </a:ext>
            </a:extLst>
          </p:cNvPr>
          <p:cNvSpPr>
            <a:spLocks noGrp="1"/>
          </p:cNvSpPr>
          <p:nvPr>
            <p:ph idx="1"/>
          </p:nvPr>
        </p:nvSpPr>
        <p:spPr>
          <a:xfrm>
            <a:off x="6411684" y="2198914"/>
            <a:ext cx="5127172" cy="3670180"/>
          </a:xfrm>
        </p:spPr>
        <p:txBody>
          <a:bodyPr>
            <a:normAutofit/>
          </a:bodyPr>
          <a:lstStyle/>
          <a:p>
            <a:r>
              <a:rPr lang="en-US"/>
              <a:t>Thị giác máy tính (Computer vision) là một lĩnh vực của trí tuệ nhân tạo (AI) cho phép máy tính và hệ thống tự động phân tích và hiểu thông tin từ video, hình ảnh và các đầu vào trực quan khác.</a:t>
            </a:r>
          </a:p>
          <a:p>
            <a:r>
              <a:rPr lang="en-US"/>
              <a:t>Công nghệ này không chỉ giúp máy tính nhìn thấy mà còn quan sát và hiểu được nội dung của các hình ảnh, tương tự như cách con người sử dụng thị giác để ghi nhớ và suy luận từ những gì nhìn thấy.</a:t>
            </a:r>
          </a:p>
          <a:p>
            <a:endParaRPr lang="en-US"/>
          </a:p>
          <a:p>
            <a:endParaRPr lang="en-US"/>
          </a:p>
          <a:p>
            <a:endParaRPr lang="en-US" dirty="0"/>
          </a:p>
        </p:txBody>
      </p:sp>
      <p:sp>
        <p:nvSpPr>
          <p:cNvPr id="1036" name="Rectangle 1035">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8" name="Rectangle 1037">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225895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36F2-2B22-78C7-9A52-ECBA1C166079}"/>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Tổng quan về thị giác máy tính</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E739296-95AF-2BC8-7E01-2A87BF875A25}"/>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Thị </a:t>
            </a:r>
            <a:r>
              <a:rPr lang="en-US" dirty="0" err="1">
                <a:latin typeface="Arial" panose="020B0604020202020204" pitchFamily="34" charset="0"/>
                <a:cs typeface="Arial" panose="020B0604020202020204" pitchFamily="34" charset="0"/>
              </a:rPr>
              <a:t>giác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nghệ</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-Học </a:t>
            </a:r>
            <a:r>
              <a:rPr lang="en-US" dirty="0" err="1">
                <a:latin typeface="Arial" panose="020B0604020202020204" pitchFamily="34" charset="0"/>
                <a:cs typeface="Arial" panose="020B0604020202020204" pitchFamily="34" charset="0"/>
              </a:rPr>
              <a:t>sâu</a:t>
            </a:r>
            <a:r>
              <a:rPr lang="en-US" dirty="0">
                <a:latin typeface="Arial" panose="020B0604020202020204" pitchFamily="34" charset="0"/>
                <a:cs typeface="Arial" panose="020B0604020202020204" pitchFamily="34" charset="0"/>
              </a:rPr>
              <a:t> (Deep learning)</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Mạng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nơ-ron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chập</a:t>
            </a:r>
            <a:r>
              <a:rPr lang="en-US" dirty="0">
                <a:latin typeface="Arial" panose="020B0604020202020204" pitchFamily="34" charset="0"/>
                <a:cs typeface="Arial" panose="020B0604020202020204" pitchFamily="34" charset="0"/>
              </a:rPr>
              <a:t> (CNN)</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Mạng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nơ-ron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hồi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a:t>
            </a:r>
            <a:r>
              <a:rPr lang="en-US" dirty="0">
                <a:latin typeface="Arial" panose="020B0604020202020204" pitchFamily="34" charset="0"/>
                <a:cs typeface="Arial" panose="020B0604020202020204" pitchFamily="34" charset="0"/>
              </a:rPr>
              <a:t> (RNN)</a:t>
            </a:r>
          </a:p>
          <a:p>
            <a:r>
              <a:rPr lang="en-US" dirty="0" err="1">
                <a:latin typeface="Arial" panose="020B0604020202020204" pitchFamily="34" charset="0"/>
                <a:cs typeface="Arial" panose="020B0604020202020204" pitchFamily="34" charset="0"/>
              </a:rPr>
              <a:t>Tác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vụ</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đoạn</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-Theo </a:t>
            </a:r>
            <a:r>
              <a:rPr lang="en-US" dirty="0" err="1">
                <a:latin typeface="Arial" panose="020B0604020202020204" pitchFamily="34" charset="0"/>
                <a:cs typeface="Arial" panose="020B0604020202020204" pitchFamily="34" charset="0"/>
              </a:rPr>
              <a:t>dõi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tượng</a:t>
            </a:r>
            <a:endParaRPr 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09116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A48E1-A873-4836-4F2D-BC28DFDBB9FE}"/>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Tổng quan về thị giác máy tính</a:t>
            </a:r>
            <a:endParaRPr lang="en-US" sz="3600" dirty="0"/>
          </a:p>
        </p:txBody>
      </p:sp>
      <p:sp>
        <p:nvSpPr>
          <p:cNvPr id="3" name="Content Placeholder 2">
            <a:extLst>
              <a:ext uri="{FF2B5EF4-FFF2-40B4-BE49-F238E27FC236}">
                <a16:creationId xmlns:a16="http://schemas.microsoft.com/office/drawing/2014/main" id="{11E85AF2-06AD-2D3A-C064-25E5F071B43B}"/>
              </a:ext>
            </a:extLst>
          </p:cNvPr>
          <p:cNvSpPr>
            <a:spLocks noGrp="1"/>
          </p:cNvSpPr>
          <p:nvPr>
            <p:ph idx="1"/>
          </p:nvPr>
        </p:nvSpPr>
        <p:spPr/>
        <p:txBody>
          <a:bodyPr/>
          <a:lstStyle/>
          <a:p>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lĩnh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vực</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-An </a:t>
            </a:r>
            <a:r>
              <a:rPr lang="en-US" dirty="0" err="1">
                <a:latin typeface="Arial" panose="020B0604020202020204" pitchFamily="34" charset="0"/>
                <a:cs typeface="Arial" panose="020B0604020202020204" pitchFamily="34" charset="0"/>
              </a:rPr>
              <a:t>ninh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-Y </a:t>
            </a:r>
            <a:r>
              <a:rPr lang="en-US" dirty="0" err="1">
                <a:latin typeface="Arial" panose="020B0604020202020204" pitchFamily="34" charset="0"/>
                <a:cs typeface="Arial" panose="020B0604020202020204" pitchFamily="34" charset="0"/>
              </a:rPr>
              <a:t>tế</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-Giao </a:t>
            </a:r>
            <a:r>
              <a:rPr lang="en-US" dirty="0" err="1">
                <a:latin typeface="Arial" panose="020B0604020202020204" pitchFamily="34" charset="0"/>
                <a:cs typeface="Arial" panose="020B0604020202020204" pitchFamily="34" charset="0"/>
              </a:rPr>
              <a:t>thông</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Nông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xuất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endParaRPr lang="en-US" dirty="0">
              <a:latin typeface="Arial" panose="020B0604020202020204" pitchFamily="34" charset="0"/>
              <a:cs typeface="Arial" panose="020B0604020202020204" pitchFamily="34" charset="0"/>
            </a:endParaRPr>
          </a:p>
          <a:p>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1668051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17793-02EC-97EE-3C91-58F46CC806C2}"/>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Tổng quan về thị giác máy tính</a:t>
            </a:r>
            <a:endParaRPr lang="en-US" sz="3600" dirty="0"/>
          </a:p>
        </p:txBody>
      </p:sp>
      <p:sp>
        <p:nvSpPr>
          <p:cNvPr id="3" name="Content Placeholder 2">
            <a:extLst>
              <a:ext uri="{FF2B5EF4-FFF2-40B4-BE49-F238E27FC236}">
                <a16:creationId xmlns:a16="http://schemas.microsoft.com/office/drawing/2014/main" id="{5C257E0A-DB05-AE0B-E276-2FAFEDCE2100}"/>
              </a:ext>
            </a:extLst>
          </p:cNvPr>
          <p:cNvSpPr>
            <a:spLocks noGrp="1"/>
          </p:cNvSpPr>
          <p:nvPr>
            <p:ph idx="1"/>
          </p:nvPr>
        </p:nvSpPr>
        <p:spPr/>
        <p:txBody>
          <a:bodyPr/>
          <a:lstStyle/>
          <a:p>
            <a:r>
              <a:rPr lang="en-US" b="1" dirty="0" err="1">
                <a:latin typeface="Arial" panose="020B0604020202020204" pitchFamily="34" charset="0"/>
                <a:cs typeface="Arial" panose="020B0604020202020204" pitchFamily="34" charset="0"/>
              </a:rPr>
              <a:t>Kết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luận</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Thị </a:t>
            </a:r>
            <a:r>
              <a:rPr lang="en-US" dirty="0" err="1">
                <a:latin typeface="Arial" panose="020B0604020202020204" pitchFamily="34" charset="0"/>
                <a:cs typeface="Arial" panose="020B0604020202020204" pitchFamily="34" charset="0"/>
              </a:rPr>
              <a:t>giác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đang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đóng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góp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hữu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ngừng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tin, </a:t>
            </a:r>
            <a:r>
              <a:rPr lang="en-US" dirty="0" err="1">
                <a:latin typeface="Arial" panose="020B0604020202020204" pitchFamily="34" charset="0"/>
                <a:cs typeface="Arial" panose="020B0604020202020204" pitchFamily="34" charset="0"/>
              </a:rPr>
              <a:t>chúng</a:t>
            </a:r>
            <a:r>
              <a:rPr lang="en-US" dirty="0">
                <a:latin typeface="Arial" panose="020B0604020202020204" pitchFamily="34" charset="0"/>
                <a:cs typeface="Arial" panose="020B0604020202020204" pitchFamily="34" charset="0"/>
              </a:rPr>
              <a:t> ta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vọng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những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vượt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trội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nữa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tương</a:t>
            </a:r>
            <a:r>
              <a:rPr lang="en-US" dirty="0">
                <a:latin typeface="Arial" panose="020B0604020202020204" pitchFamily="34" charset="0"/>
                <a:cs typeface="Arial" panose="020B0604020202020204" pitchFamily="34" charset="0"/>
              </a:rPr>
              <a:t> lai, </a:t>
            </a:r>
            <a:r>
              <a:rPr lang="en-US" dirty="0" err="1">
                <a:latin typeface="Arial" panose="020B0604020202020204" pitchFamily="34" charset="0"/>
                <a:cs typeface="Arial" panose="020B0604020202020204" pitchFamily="34" charset="0"/>
              </a:rPr>
              <a:t>giúp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lĩnh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nhau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những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hội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đầy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hứa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hẹn</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147873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164E8-A06B-B2FA-9E29-56E15FFF39FC}"/>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Tổng quan về xử lý ảnh số</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ADA1538-F65E-D18F-AC95-411C20CBAF7E}"/>
              </a:ext>
            </a:extLst>
          </p:cNvPr>
          <p:cNvSpPr>
            <a:spLocks noGrp="1"/>
          </p:cNvSpPr>
          <p:nvPr>
            <p:ph idx="1"/>
          </p:nvPr>
        </p:nvSpPr>
        <p:spPr/>
        <p:txBody>
          <a:bodyPr/>
          <a:lstStyle/>
          <a:p>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nhằm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đổi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dưới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Một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biểu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diễn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dưới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dạng</a:t>
            </a:r>
            <a:r>
              <a:rPr lang="en-US" dirty="0">
                <a:latin typeface="Arial" panose="020B0604020202020204" pitchFamily="34" charset="0"/>
                <a:cs typeface="Arial" panose="020B0604020202020204" pitchFamily="34" charset="0"/>
              </a:rPr>
              <a:t> ma </a:t>
            </a:r>
            <a:r>
              <a:rPr lang="en-US" dirty="0" err="1">
                <a:latin typeface="Arial" panose="020B0604020202020204" pitchFamily="34" charset="0"/>
                <a:cs typeface="Arial" panose="020B0604020202020204" pitchFamily="34" charset="0"/>
              </a:rPr>
              <a:t>trận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(pixel),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mỗi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mang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tin </a:t>
            </a:r>
            <a:r>
              <a:rPr lang="en-US" dirty="0" err="1">
                <a:latin typeface="Arial" panose="020B0604020202020204" pitchFamily="34" charset="0"/>
                <a:cs typeface="Arial" panose="020B0604020202020204" pitchFamily="34" charset="0"/>
              </a:rPr>
              <a:t>về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cường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màu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sắc</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Các </a:t>
            </a:r>
            <a:r>
              <a:rPr lang="en-US" dirty="0" err="1">
                <a:latin typeface="Arial" panose="020B0604020202020204" pitchFamily="34" charset="0"/>
                <a:cs typeface="Arial" panose="020B0604020202020204" pitchFamily="34" charset="0"/>
              </a:rPr>
              <a:t>bước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bao </a:t>
            </a:r>
            <a:r>
              <a:rPr lang="en-US" dirty="0" err="1">
                <a:latin typeface="Arial" panose="020B0604020202020204" pitchFamily="34" charset="0"/>
                <a:cs typeface="Arial" panose="020B0604020202020204" pitchFamily="34" charset="0"/>
              </a:rPr>
              <a:t>gồm</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Bước</a:t>
            </a:r>
            <a:r>
              <a:rPr lang="en-US" dirty="0">
                <a:latin typeface="Arial" panose="020B0604020202020204" pitchFamily="34" charset="0"/>
                <a:cs typeface="Arial" panose="020B0604020202020204" pitchFamily="34" charset="0"/>
              </a:rPr>
              <a:t> 1: Thu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như</a:t>
            </a:r>
            <a:r>
              <a:rPr lang="en-US" dirty="0">
                <a:latin typeface="Arial" panose="020B0604020202020204" pitchFamily="34" charset="0"/>
                <a:cs typeface="Arial" panose="020B0604020202020204" pitchFamily="34" charset="0"/>
              </a:rPr>
              <a:t> camera, webcam.</a:t>
            </a:r>
          </a:p>
          <a:p>
            <a:r>
              <a:rPr lang="en-US" dirty="0" err="1">
                <a:latin typeface="Arial" panose="020B0604020202020204" pitchFamily="34" charset="0"/>
                <a:cs typeface="Arial" panose="020B0604020202020204" pitchFamily="34" charset="0"/>
              </a:rPr>
              <a:t>Bước</a:t>
            </a:r>
            <a:r>
              <a:rPr lang="en-US" dirty="0">
                <a:latin typeface="Arial" panose="020B0604020202020204" pitchFamily="34" charset="0"/>
                <a:cs typeface="Arial" panose="020B0604020202020204" pitchFamily="34" charset="0"/>
              </a:rPr>
              <a:t> 2: </a:t>
            </a:r>
            <a:r>
              <a:rPr lang="en-US" dirty="0" err="1">
                <a:latin typeface="Arial" panose="020B0604020202020204" pitchFamily="34" charset="0"/>
                <a:cs typeface="Arial" panose="020B0604020202020204" pitchFamily="34" charset="0"/>
              </a:rPr>
              <a:t>Tiền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lọc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nhiễu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đổi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màu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sắc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bằng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sáng</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Bước</a:t>
            </a:r>
            <a:r>
              <a:rPr lang="en-US" dirty="0">
                <a:latin typeface="Arial" panose="020B0604020202020204" pitchFamily="34" charset="0"/>
                <a:cs typeface="Arial" panose="020B0604020202020204" pitchFamily="34" charset="0"/>
              </a:rPr>
              <a:t> 3: </a:t>
            </a:r>
            <a:r>
              <a:rPr lang="en-US" dirty="0" err="1">
                <a:latin typeface="Arial" panose="020B0604020202020204" pitchFamily="34" charset="0"/>
                <a:cs typeface="Arial" panose="020B0604020202020204" pitchFamily="34" charset="0"/>
              </a:rPr>
              <a:t>Trích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xuất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trưng</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Bước</a:t>
            </a:r>
            <a:r>
              <a:rPr lang="en-US" dirty="0">
                <a:latin typeface="Arial" panose="020B0604020202020204" pitchFamily="34" charset="0"/>
                <a:cs typeface="Arial" panose="020B0604020202020204" pitchFamily="34" charset="0"/>
              </a:rPr>
              <a:t> 4: </a:t>
            </a: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tượng</a:t>
            </a:r>
            <a:r>
              <a:rPr lang="en-US" dirty="0">
                <a:latin typeface="Arial" panose="020B0604020202020204" pitchFamily="34" charset="0"/>
                <a:cs typeface="Arial" panose="020B0604020202020204" pitchFamily="34" charset="0"/>
              </a:rPr>
              <a:t>.</a:t>
            </a:r>
          </a:p>
          <a:p>
            <a:pPr marL="0" indent="0">
              <a:buNone/>
            </a:pPr>
            <a:endParaRPr lang="en-US" dirty="0"/>
          </a:p>
        </p:txBody>
      </p:sp>
    </p:spTree>
    <p:extLst>
      <p:ext uri="{BB962C8B-B14F-4D97-AF65-F5344CB8AC3E}">
        <p14:creationId xmlns:p14="http://schemas.microsoft.com/office/powerpoint/2010/main" val="2733576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4958C-91C2-7117-CF8F-520955360C39}"/>
              </a:ext>
            </a:extLst>
          </p:cNvPr>
          <p:cNvSpPr>
            <a:spLocks noGrp="1"/>
          </p:cNvSpPr>
          <p:nvPr>
            <p:ph type="title"/>
          </p:nvPr>
        </p:nvSpPr>
        <p:spPr>
          <a:xfrm>
            <a:off x="1097280" y="286603"/>
            <a:ext cx="10058400" cy="1450757"/>
          </a:xfrm>
        </p:spPr>
        <p:txBody>
          <a:bodyPr>
            <a:normAutofit/>
          </a:bodyPr>
          <a:lstStyle/>
          <a:p>
            <a:r>
              <a:rPr lang="x-none" b="1" dirty="0"/>
              <a:t>Giới thiệu thư viện OpenCV</a:t>
            </a:r>
            <a:r>
              <a:rPr lang="en-US" b="1" dirty="0"/>
              <a:t>	</a:t>
            </a:r>
            <a:endParaRPr lang="en-US" dirty="0"/>
          </a:p>
        </p:txBody>
      </p:sp>
      <p:sp>
        <p:nvSpPr>
          <p:cNvPr id="3" name="Content Placeholder 2">
            <a:extLst>
              <a:ext uri="{FF2B5EF4-FFF2-40B4-BE49-F238E27FC236}">
                <a16:creationId xmlns:a16="http://schemas.microsoft.com/office/drawing/2014/main" id="{08D5A47D-F261-0535-AC9E-D136598FFE43}"/>
              </a:ext>
            </a:extLst>
          </p:cNvPr>
          <p:cNvSpPr>
            <a:spLocks noGrp="1"/>
          </p:cNvSpPr>
          <p:nvPr>
            <p:ph idx="1"/>
          </p:nvPr>
        </p:nvSpPr>
        <p:spPr>
          <a:xfrm>
            <a:off x="1097279" y="1845734"/>
            <a:ext cx="6454987" cy="4023360"/>
          </a:xfrm>
        </p:spPr>
        <p:txBody>
          <a:bodyPr>
            <a:normAutofit/>
          </a:bodyPr>
          <a:lstStyle/>
          <a:p>
            <a:r>
              <a:rPr lang="en-US" dirty="0"/>
              <a:t>OpenCV (</a:t>
            </a:r>
            <a:r>
              <a:rPr lang="en-US" dirty="0" err="1"/>
              <a:t>viết</a:t>
            </a:r>
            <a:r>
              <a:rPr lang="en-US" dirty="0"/>
              <a:t> </a:t>
            </a:r>
            <a:r>
              <a:rPr lang="en-US" dirty="0" err="1"/>
              <a:t>tắt</a:t>
            </a:r>
            <a:r>
              <a:rPr lang="en-US" dirty="0"/>
              <a:t> </a:t>
            </a:r>
            <a:r>
              <a:rPr lang="en-US" dirty="0" err="1"/>
              <a:t>của</a:t>
            </a:r>
            <a:r>
              <a:rPr lang="en-US" dirty="0"/>
              <a:t> Open-Source Computer Vision Library) </a:t>
            </a:r>
            <a:r>
              <a:rPr lang="en-US" dirty="0" err="1"/>
              <a:t>là</a:t>
            </a:r>
            <a:r>
              <a:rPr lang="en-US" dirty="0"/>
              <a:t> </a:t>
            </a:r>
            <a:r>
              <a:rPr lang="en-US" dirty="0" err="1"/>
              <a:t>một</a:t>
            </a:r>
            <a:r>
              <a:rPr lang="en-US" dirty="0"/>
              <a:t> </a:t>
            </a:r>
            <a:r>
              <a:rPr lang="en-US" dirty="0" err="1"/>
              <a:t>thư</a:t>
            </a:r>
            <a:r>
              <a:rPr lang="en-US" dirty="0"/>
              <a:t> </a:t>
            </a:r>
            <a:r>
              <a:rPr lang="en-US" dirty="0" err="1"/>
              <a:t>viện</a:t>
            </a:r>
            <a:r>
              <a:rPr lang="en-US" dirty="0"/>
              <a:t> </a:t>
            </a:r>
            <a:r>
              <a:rPr lang="en-US" dirty="0" err="1"/>
              <a:t>mã</a:t>
            </a:r>
            <a:r>
              <a:rPr lang="en-US" dirty="0"/>
              <a:t> </a:t>
            </a:r>
            <a:r>
              <a:rPr lang="en-US" dirty="0" err="1"/>
              <a:t>nguồn</a:t>
            </a:r>
            <a:r>
              <a:rPr lang="en-US" dirty="0"/>
              <a:t> </a:t>
            </a:r>
            <a:r>
              <a:rPr lang="en-US" dirty="0" err="1"/>
              <a:t>mở</a:t>
            </a:r>
            <a:r>
              <a:rPr lang="en-US" dirty="0"/>
              <a:t> </a:t>
            </a:r>
            <a:r>
              <a:rPr lang="en-US" dirty="0" err="1"/>
              <a:t>chuyên</a:t>
            </a:r>
            <a:r>
              <a:rPr lang="en-US" dirty="0"/>
              <a:t> </a:t>
            </a:r>
            <a:r>
              <a:rPr lang="en-US" dirty="0" err="1"/>
              <a:t>dùng</a:t>
            </a:r>
            <a:r>
              <a:rPr lang="en-US" dirty="0"/>
              <a:t> </a:t>
            </a:r>
            <a:r>
              <a:rPr lang="en-US" dirty="0" err="1"/>
              <a:t>trong</a:t>
            </a:r>
            <a:r>
              <a:rPr lang="en-US" dirty="0"/>
              <a:t> </a:t>
            </a:r>
            <a:r>
              <a:rPr lang="en-US" dirty="0" err="1"/>
              <a:t>xử</a:t>
            </a:r>
            <a:r>
              <a:rPr lang="en-US" dirty="0"/>
              <a:t> </a:t>
            </a:r>
            <a:r>
              <a:rPr lang="en-US" dirty="0" err="1"/>
              <a:t>lý</a:t>
            </a:r>
            <a:r>
              <a:rPr lang="en-US" dirty="0"/>
              <a:t> </a:t>
            </a:r>
            <a:r>
              <a:rPr lang="en-US" dirty="0" err="1"/>
              <a:t>ảnh</a:t>
            </a:r>
            <a:r>
              <a:rPr lang="en-US" dirty="0"/>
              <a:t> </a:t>
            </a:r>
            <a:r>
              <a:rPr lang="en-US" dirty="0" err="1"/>
              <a:t>và</a:t>
            </a:r>
            <a:r>
              <a:rPr lang="en-US" dirty="0"/>
              <a:t> </a:t>
            </a:r>
            <a:r>
              <a:rPr lang="en-US" dirty="0" err="1"/>
              <a:t>thị</a:t>
            </a:r>
            <a:r>
              <a:rPr lang="en-US" dirty="0"/>
              <a:t> </a:t>
            </a:r>
            <a:r>
              <a:rPr lang="en-US" dirty="0" err="1"/>
              <a:t>giác</a:t>
            </a:r>
            <a:r>
              <a:rPr lang="en-US" dirty="0"/>
              <a:t> </a:t>
            </a:r>
            <a:r>
              <a:rPr lang="en-US" dirty="0" err="1"/>
              <a:t>máy</a:t>
            </a:r>
            <a:r>
              <a:rPr lang="en-US" dirty="0"/>
              <a:t> </a:t>
            </a:r>
            <a:r>
              <a:rPr lang="en-US" dirty="0" err="1"/>
              <a:t>tính</a:t>
            </a:r>
            <a:r>
              <a:rPr lang="en-US" dirty="0"/>
              <a:t>. Công </a:t>
            </a:r>
            <a:r>
              <a:rPr lang="en-US" dirty="0" err="1"/>
              <a:t>nghệ</a:t>
            </a:r>
            <a:r>
              <a:rPr lang="en-US" dirty="0"/>
              <a:t> </a:t>
            </a:r>
            <a:r>
              <a:rPr lang="en-US" dirty="0" err="1"/>
              <a:t>cung</a:t>
            </a:r>
            <a:r>
              <a:rPr lang="en-US" dirty="0"/>
              <a:t> </a:t>
            </a:r>
            <a:r>
              <a:rPr lang="en-US" dirty="0" err="1"/>
              <a:t>cấp</a:t>
            </a:r>
            <a:r>
              <a:rPr lang="en-US" dirty="0"/>
              <a:t> </a:t>
            </a:r>
            <a:r>
              <a:rPr lang="en-US" dirty="0" err="1"/>
              <a:t>các</a:t>
            </a:r>
            <a:r>
              <a:rPr lang="en-US" dirty="0"/>
              <a:t> </a:t>
            </a:r>
            <a:r>
              <a:rPr lang="en-US" dirty="0" err="1"/>
              <a:t>công</a:t>
            </a:r>
            <a:r>
              <a:rPr lang="en-US" dirty="0"/>
              <a:t> </a:t>
            </a:r>
            <a:r>
              <a:rPr lang="en-US" dirty="0" err="1"/>
              <a:t>cụ</a:t>
            </a:r>
            <a:r>
              <a:rPr lang="en-US" dirty="0"/>
              <a:t> </a:t>
            </a:r>
            <a:r>
              <a:rPr lang="en-US" dirty="0" err="1"/>
              <a:t>và</a:t>
            </a:r>
            <a:r>
              <a:rPr lang="en-US" dirty="0"/>
              <a:t> </a:t>
            </a:r>
            <a:r>
              <a:rPr lang="en-US" dirty="0" err="1"/>
              <a:t>thư</a:t>
            </a:r>
            <a:r>
              <a:rPr lang="en-US" dirty="0"/>
              <a:t> </a:t>
            </a:r>
            <a:r>
              <a:rPr lang="en-US" dirty="0" err="1"/>
              <a:t>viện</a:t>
            </a:r>
            <a:r>
              <a:rPr lang="en-US" dirty="0"/>
              <a:t> </a:t>
            </a:r>
            <a:r>
              <a:rPr lang="en-US" dirty="0" err="1"/>
              <a:t>để</a:t>
            </a:r>
            <a:r>
              <a:rPr lang="en-US" dirty="0"/>
              <a:t> </a:t>
            </a:r>
            <a:r>
              <a:rPr lang="en-US" dirty="0" err="1"/>
              <a:t>phân</a:t>
            </a:r>
            <a:r>
              <a:rPr lang="en-US" dirty="0"/>
              <a:t> </a:t>
            </a:r>
            <a:r>
              <a:rPr lang="en-US" dirty="0" err="1"/>
              <a:t>tích</a:t>
            </a:r>
            <a:r>
              <a:rPr lang="en-US" dirty="0"/>
              <a:t> </a:t>
            </a:r>
            <a:r>
              <a:rPr lang="en-US" dirty="0" err="1"/>
              <a:t>và</a:t>
            </a:r>
            <a:r>
              <a:rPr lang="en-US" dirty="0"/>
              <a:t> </a:t>
            </a:r>
            <a:r>
              <a:rPr lang="en-US" dirty="0" err="1"/>
              <a:t>xử</a:t>
            </a:r>
            <a:r>
              <a:rPr lang="en-US" dirty="0"/>
              <a:t> </a:t>
            </a:r>
            <a:r>
              <a:rPr lang="en-US" dirty="0" err="1"/>
              <a:t>lý</a:t>
            </a:r>
            <a:r>
              <a:rPr lang="en-US" dirty="0"/>
              <a:t> </a:t>
            </a:r>
            <a:r>
              <a:rPr lang="en-US" dirty="0" err="1"/>
              <a:t>ảnh</a:t>
            </a:r>
            <a:r>
              <a:rPr lang="en-US" dirty="0"/>
              <a:t>, video </a:t>
            </a:r>
            <a:r>
              <a:rPr lang="en-US" dirty="0" err="1"/>
              <a:t>từ</a:t>
            </a:r>
            <a:r>
              <a:rPr lang="en-US" dirty="0"/>
              <a:t> </a:t>
            </a:r>
            <a:r>
              <a:rPr lang="en-US" dirty="0" err="1"/>
              <a:t>việc</a:t>
            </a:r>
            <a:r>
              <a:rPr lang="en-US" dirty="0"/>
              <a:t> </a:t>
            </a:r>
            <a:r>
              <a:rPr lang="en-US" dirty="0" err="1"/>
              <a:t>xác</a:t>
            </a:r>
            <a:r>
              <a:rPr lang="en-US" dirty="0"/>
              <a:t> </a:t>
            </a:r>
            <a:r>
              <a:rPr lang="en-US" dirty="0" err="1"/>
              <a:t>định</a:t>
            </a:r>
            <a:r>
              <a:rPr lang="en-US" dirty="0"/>
              <a:t> </a:t>
            </a:r>
            <a:r>
              <a:rPr lang="en-US" dirty="0" err="1"/>
              <a:t>các</a:t>
            </a:r>
            <a:r>
              <a:rPr lang="en-US" dirty="0"/>
              <a:t> </a:t>
            </a:r>
            <a:r>
              <a:rPr lang="en-US" dirty="0" err="1"/>
              <a:t>đối</a:t>
            </a:r>
            <a:r>
              <a:rPr lang="en-US" dirty="0"/>
              <a:t> </a:t>
            </a:r>
            <a:r>
              <a:rPr lang="en-US" dirty="0" err="1"/>
              <a:t>tượng</a:t>
            </a:r>
            <a:r>
              <a:rPr lang="en-US" dirty="0"/>
              <a:t> </a:t>
            </a:r>
            <a:r>
              <a:rPr lang="en-US" dirty="0" err="1"/>
              <a:t>trong</a:t>
            </a:r>
            <a:r>
              <a:rPr lang="en-US" dirty="0"/>
              <a:t> </a:t>
            </a:r>
            <a:r>
              <a:rPr lang="en-US" dirty="0" err="1"/>
              <a:t>ảnh</a:t>
            </a:r>
            <a:r>
              <a:rPr lang="en-US" dirty="0"/>
              <a:t> </a:t>
            </a:r>
            <a:r>
              <a:rPr lang="en-US" dirty="0" err="1"/>
              <a:t>đến</a:t>
            </a:r>
            <a:r>
              <a:rPr lang="en-US" dirty="0"/>
              <a:t> </a:t>
            </a:r>
            <a:r>
              <a:rPr lang="en-US" dirty="0" err="1"/>
              <a:t>việc</a:t>
            </a:r>
            <a:r>
              <a:rPr lang="en-US" dirty="0"/>
              <a:t> </a:t>
            </a:r>
            <a:r>
              <a:rPr lang="en-US" dirty="0" err="1"/>
              <a:t>nhận</a:t>
            </a:r>
            <a:r>
              <a:rPr lang="en-US" dirty="0"/>
              <a:t> </a:t>
            </a:r>
            <a:r>
              <a:rPr lang="en-US" dirty="0" err="1"/>
              <a:t>diện</a:t>
            </a:r>
            <a:r>
              <a:rPr lang="en-US" dirty="0"/>
              <a:t> </a:t>
            </a:r>
            <a:r>
              <a:rPr lang="en-US" dirty="0" err="1"/>
              <a:t>khuôn</a:t>
            </a:r>
            <a:r>
              <a:rPr lang="en-US" dirty="0"/>
              <a:t> </a:t>
            </a:r>
            <a:r>
              <a:rPr lang="en-US" dirty="0" err="1"/>
              <a:t>mặt</a:t>
            </a:r>
            <a:r>
              <a:rPr lang="en-US" dirty="0"/>
              <a:t> </a:t>
            </a:r>
            <a:r>
              <a:rPr lang="en-US" dirty="0" err="1"/>
              <a:t>hoặc</a:t>
            </a:r>
            <a:r>
              <a:rPr lang="en-US" dirty="0"/>
              <a:t> </a:t>
            </a:r>
            <a:r>
              <a:rPr lang="en-US" dirty="0" err="1"/>
              <a:t>theo</a:t>
            </a:r>
            <a:r>
              <a:rPr lang="en-US" dirty="0"/>
              <a:t> </a:t>
            </a:r>
            <a:r>
              <a:rPr lang="en-US" dirty="0" err="1"/>
              <a:t>dõi</a:t>
            </a:r>
            <a:r>
              <a:rPr lang="en-US" dirty="0"/>
              <a:t> </a:t>
            </a:r>
            <a:r>
              <a:rPr lang="en-US" dirty="0" err="1"/>
              <a:t>chuyển</a:t>
            </a:r>
            <a:r>
              <a:rPr lang="en-US" dirty="0"/>
              <a:t> </a:t>
            </a:r>
            <a:r>
              <a:rPr lang="en-US" dirty="0" err="1"/>
              <a:t>động</a:t>
            </a:r>
            <a:r>
              <a:rPr lang="en-US" dirty="0"/>
              <a:t> </a:t>
            </a:r>
            <a:r>
              <a:rPr lang="en-US" dirty="0" err="1"/>
              <a:t>khác</a:t>
            </a:r>
            <a:r>
              <a:rPr lang="en-US" dirty="0"/>
              <a:t>. </a:t>
            </a:r>
          </a:p>
          <a:p>
            <a:r>
              <a:rPr lang="en-US" dirty="0" err="1"/>
              <a:t>Hệ</a:t>
            </a:r>
            <a:r>
              <a:rPr lang="en-US" dirty="0"/>
              <a:t> </a:t>
            </a:r>
            <a:r>
              <a:rPr lang="en-US" dirty="0" err="1"/>
              <a:t>thống</a:t>
            </a:r>
            <a:r>
              <a:rPr lang="en-US" dirty="0"/>
              <a:t> OpenCV </a:t>
            </a:r>
            <a:r>
              <a:rPr lang="en-US" dirty="0" err="1"/>
              <a:t>cung</a:t>
            </a:r>
            <a:r>
              <a:rPr lang="en-US" dirty="0"/>
              <a:t> </a:t>
            </a:r>
            <a:r>
              <a:rPr lang="en-US" dirty="0" err="1"/>
              <a:t>cấp</a:t>
            </a:r>
            <a:r>
              <a:rPr lang="en-US" dirty="0"/>
              <a:t> </a:t>
            </a:r>
            <a:r>
              <a:rPr lang="en-US" dirty="0" err="1"/>
              <a:t>các</a:t>
            </a:r>
            <a:r>
              <a:rPr lang="en-US" dirty="0"/>
              <a:t> </a:t>
            </a:r>
            <a:r>
              <a:rPr lang="en-US" dirty="0" err="1"/>
              <a:t>thuật</a:t>
            </a:r>
            <a:r>
              <a:rPr lang="en-US" dirty="0"/>
              <a:t> </a:t>
            </a:r>
            <a:r>
              <a:rPr lang="en-US" dirty="0" err="1"/>
              <a:t>toán</a:t>
            </a:r>
            <a:r>
              <a:rPr lang="en-US" dirty="0"/>
              <a:t> </a:t>
            </a:r>
            <a:r>
              <a:rPr lang="en-US" dirty="0" err="1"/>
              <a:t>và</a:t>
            </a:r>
            <a:r>
              <a:rPr lang="en-US" dirty="0"/>
              <a:t> </a:t>
            </a:r>
            <a:r>
              <a:rPr lang="en-US" dirty="0" err="1"/>
              <a:t>công</a:t>
            </a:r>
            <a:r>
              <a:rPr lang="en-US" dirty="0"/>
              <a:t> </a:t>
            </a:r>
            <a:r>
              <a:rPr lang="en-US" dirty="0" err="1"/>
              <a:t>cụ</a:t>
            </a:r>
            <a:r>
              <a:rPr lang="en-US" dirty="0"/>
              <a:t> </a:t>
            </a:r>
            <a:r>
              <a:rPr lang="en-US" dirty="0" err="1"/>
              <a:t>mạnh</a:t>
            </a:r>
            <a:r>
              <a:rPr lang="en-US" dirty="0"/>
              <a:t> </a:t>
            </a:r>
            <a:r>
              <a:rPr lang="en-US" dirty="0" err="1"/>
              <a:t>mẽ</a:t>
            </a:r>
            <a:r>
              <a:rPr lang="en-US" dirty="0"/>
              <a:t> </a:t>
            </a:r>
            <a:r>
              <a:rPr lang="en-US" dirty="0" err="1"/>
              <a:t>được</a:t>
            </a:r>
            <a:r>
              <a:rPr lang="en-US" dirty="0"/>
              <a:t> </a:t>
            </a:r>
            <a:r>
              <a:rPr lang="en-US" dirty="0" err="1"/>
              <a:t>dùng</a:t>
            </a:r>
            <a:r>
              <a:rPr lang="en-US" dirty="0"/>
              <a:t> </a:t>
            </a:r>
            <a:r>
              <a:rPr lang="en-US" dirty="0" err="1"/>
              <a:t>để</a:t>
            </a:r>
            <a:r>
              <a:rPr lang="en-US" dirty="0"/>
              <a:t> </a:t>
            </a:r>
            <a:r>
              <a:rPr lang="en-US" dirty="0" err="1"/>
              <a:t>phát</a:t>
            </a:r>
            <a:r>
              <a:rPr lang="en-US" dirty="0"/>
              <a:t> </a:t>
            </a:r>
            <a:r>
              <a:rPr lang="en-US" dirty="0" err="1"/>
              <a:t>hiện</a:t>
            </a:r>
            <a:r>
              <a:rPr lang="en-US" dirty="0"/>
              <a:t>, </a:t>
            </a:r>
            <a:r>
              <a:rPr lang="en-US" dirty="0" err="1"/>
              <a:t>phân</a:t>
            </a:r>
            <a:r>
              <a:rPr lang="en-US" dirty="0"/>
              <a:t> </a:t>
            </a:r>
            <a:r>
              <a:rPr lang="en-US" dirty="0" err="1"/>
              <a:t>tích</a:t>
            </a:r>
            <a:r>
              <a:rPr lang="en-US" dirty="0"/>
              <a:t> </a:t>
            </a:r>
            <a:r>
              <a:rPr lang="en-US" dirty="0" err="1"/>
              <a:t>hình</a:t>
            </a:r>
            <a:r>
              <a:rPr lang="en-US" dirty="0"/>
              <a:t> </a:t>
            </a:r>
            <a:r>
              <a:rPr lang="en-US" dirty="0" err="1"/>
              <a:t>ảnh</a:t>
            </a:r>
            <a:r>
              <a:rPr lang="en-US" dirty="0"/>
              <a:t>.</a:t>
            </a:r>
          </a:p>
        </p:txBody>
      </p:sp>
      <p:pic>
        <p:nvPicPr>
          <p:cNvPr id="2050" name="Picture 1" descr="IMG_256">
            <a:extLst>
              <a:ext uri="{FF2B5EF4-FFF2-40B4-BE49-F238E27FC236}">
                <a16:creationId xmlns:a16="http://schemas.microsoft.com/office/drawing/2014/main" id="{09F1BB46-E272-0794-2BC9-73362C263E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574" r="21458"/>
          <a:stretch>
            <a:fillRect/>
          </a:stretch>
        </p:blipFill>
        <p:spPr bwMode="auto">
          <a:xfrm>
            <a:off x="8020570" y="1916318"/>
            <a:ext cx="3135109" cy="34710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9546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DA254-D567-356A-C8DE-91512E9760AF}"/>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Giới thiệu thư viện OpenCV</a:t>
            </a:r>
            <a:r>
              <a:rPr lang="en-US" sz="3600" b="1" dirty="0"/>
              <a:t>	</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CCD4D91-FE0F-3BCA-E895-1286866A4D04}"/>
              </a:ext>
            </a:extLst>
          </p:cNvPr>
          <p:cNvSpPr>
            <a:spLocks noGrp="1"/>
          </p:cNvSpPr>
          <p:nvPr>
            <p:ph idx="1"/>
          </p:nvPr>
        </p:nvSpPr>
        <p:spPr/>
        <p:txBody>
          <a:bodyPr/>
          <a:lstStyle/>
          <a:p>
            <a:r>
              <a:rPr lang="en-US" b="1" dirty="0" err="1">
                <a:latin typeface="Arial" panose="020B0604020202020204" pitchFamily="34" charset="0"/>
                <a:cs typeface="Arial" panose="020B0604020202020204" pitchFamily="34" charset="0"/>
              </a:rPr>
              <a:t>Những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tính</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ứng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dụng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của</a:t>
            </a:r>
            <a:r>
              <a:rPr lang="en-US" b="1" dirty="0">
                <a:latin typeface="Arial" panose="020B0604020202020204" pitchFamily="34" charset="0"/>
                <a:cs typeface="Arial" panose="020B0604020202020204" pitchFamily="34" charset="0"/>
              </a:rPr>
              <a:t> OpenCV</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tượng</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y </a:t>
            </a:r>
            <a:r>
              <a:rPr lang="en-US" dirty="0" err="1">
                <a:latin typeface="Arial" panose="020B0604020202020204" pitchFamily="34" charset="0"/>
                <a:cs typeface="Arial" panose="020B0604020202020204" pitchFamily="34" charset="0"/>
              </a:rPr>
              <a:t>tế</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-Thị </a:t>
            </a:r>
            <a:r>
              <a:rPr lang="en-US" dirty="0" err="1">
                <a:latin typeface="Arial" panose="020B0604020202020204" pitchFamily="34" charset="0"/>
                <a:cs typeface="Arial" panose="020B0604020202020204" pitchFamily="34" charset="0"/>
              </a:rPr>
              <a:t>giác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nghệ</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video</a:t>
            </a:r>
          </a:p>
          <a:p>
            <a:r>
              <a:rPr lang="en-US" dirty="0">
                <a:latin typeface="Arial" panose="020B0604020202020204" pitchFamily="34" charset="0"/>
                <a:cs typeface="Arial" panose="020B0604020202020204" pitchFamily="34" charset="0"/>
              </a:rPr>
              <a:t>-Phim – config 3D from motion</a:t>
            </a:r>
          </a:p>
          <a:p>
            <a:endParaRPr lang="en-US" dirty="0"/>
          </a:p>
        </p:txBody>
      </p:sp>
    </p:spTree>
    <p:extLst>
      <p:ext uri="{BB962C8B-B14F-4D97-AF65-F5344CB8AC3E}">
        <p14:creationId xmlns:p14="http://schemas.microsoft.com/office/powerpoint/2010/main" val="4172131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3462C-6C54-F364-0CE0-D5ADCE2B8354}"/>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Giới thiệu thư viện OpenCV</a:t>
            </a:r>
            <a:r>
              <a:rPr lang="en-US" sz="3600" b="1" dirty="0">
                <a:latin typeface="Arial" panose="020B0604020202020204" pitchFamily="34" charset="0"/>
                <a:cs typeface="Arial" panose="020B0604020202020204" pitchFamily="34" charset="0"/>
              </a:rPr>
              <a:t>	</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FF4AF53-F14D-F9E5-D877-13B61EFD3CF9}"/>
              </a:ext>
            </a:extLst>
          </p:cNvPr>
          <p:cNvSpPr>
            <a:spLocks noGrp="1"/>
          </p:cNvSpPr>
          <p:nvPr>
            <p:ph idx="1"/>
          </p:nvPr>
        </p:nvSpPr>
        <p:spPr/>
        <p:txBody>
          <a:bodyPr/>
          <a:lstStyle/>
          <a:p>
            <a:r>
              <a:rPr lang="en-US" b="1" dirty="0" err="1">
                <a:latin typeface="Arial" panose="020B0604020202020204" pitchFamily="34" charset="0"/>
                <a:cs typeface="Arial" panose="020B0604020202020204" pitchFamily="34" charset="0"/>
              </a:rPr>
              <a:t>Cập</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nhật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tính</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năng</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bản</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dõi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tượng</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nâng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cao</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video</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học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biểu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đồ</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y khoa</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Tích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4547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750EB-654E-B9F5-31BE-1F57F9939747}"/>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Giới thiệu thư viện OpenCV</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B7A2F74-6656-6877-8710-F5D9128E2466}"/>
              </a:ext>
            </a:extLst>
          </p:cNvPr>
          <p:cNvSpPr>
            <a:spLocks noGrp="1"/>
          </p:cNvSpPr>
          <p:nvPr>
            <p:ph idx="1"/>
          </p:nvPr>
        </p:nvSpPr>
        <p:spPr/>
        <p:txBody>
          <a:bodyPr/>
          <a:lstStyle/>
          <a:p>
            <a:r>
              <a:rPr lang="en-US" b="1" dirty="0" err="1">
                <a:latin typeface="Arial" panose="020B0604020202020204" pitchFamily="34" charset="0"/>
                <a:cs typeface="Arial" panose="020B0604020202020204" pitchFamily="34" charset="0"/>
              </a:rPr>
              <a:t>Phân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loại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mô</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đun</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Các </a:t>
            </a:r>
            <a:r>
              <a:rPr lang="en-US" dirty="0" err="1">
                <a:latin typeface="Arial" panose="020B0604020202020204" pitchFamily="34" charset="0"/>
                <a:cs typeface="Arial" panose="020B0604020202020204" pitchFamily="34" charset="0"/>
              </a:rPr>
              <a:t>mô-đun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phổ</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viện</a:t>
            </a:r>
            <a:r>
              <a:rPr lang="en-US" dirty="0">
                <a:latin typeface="Arial" panose="020B0604020202020204" pitchFamily="34" charset="0"/>
                <a:cs typeface="Arial" panose="020B0604020202020204" pitchFamily="34" charset="0"/>
              </a:rPr>
              <a:t> OpenCV </a:t>
            </a:r>
            <a:r>
              <a:rPr lang="en-US" dirty="0" err="1">
                <a:latin typeface="Arial" panose="020B0604020202020204" pitchFamily="34" charset="0"/>
                <a:cs typeface="Arial" panose="020B0604020202020204" pitchFamily="34" charset="0"/>
              </a:rPr>
              <a:t>cung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cấp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nhau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Core</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Imgproc</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Video</a:t>
            </a:r>
          </a:p>
          <a:p>
            <a:r>
              <a:rPr lang="en-US" dirty="0">
                <a:latin typeface="Arial" panose="020B0604020202020204" pitchFamily="34" charset="0"/>
                <a:cs typeface="Arial" panose="020B0604020202020204" pitchFamily="34" charset="0"/>
              </a:rPr>
              <a:t>- Features2d</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Objdetect</a:t>
            </a:r>
            <a:endParaRPr 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063990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91E04-C453-1601-D180-C8BDE05C6A76}"/>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Thuật toán phát hiện khuôn mặt Haar Cascade</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7B4824B-9E9C-BCFF-BCB3-04281D10CC14}"/>
              </a:ext>
            </a:extLst>
          </p:cNvPr>
          <p:cNvSpPr>
            <a:spLocks noGrp="1"/>
          </p:cNvSpPr>
          <p:nvPr>
            <p:ph idx="1"/>
          </p:nvPr>
        </p:nvSpPr>
        <p:spPr/>
        <p:txBody>
          <a:bodyPr/>
          <a:lstStyle/>
          <a:p>
            <a:r>
              <a:rPr lang="en-US" dirty="0"/>
              <a:t>Haar Cascade </a:t>
            </a:r>
            <a:r>
              <a:rPr lang="en-US" dirty="0" err="1"/>
              <a:t>được</a:t>
            </a:r>
            <a:r>
              <a:rPr lang="en-US" dirty="0"/>
              <a:t> </a:t>
            </a:r>
            <a:r>
              <a:rPr lang="en-US" dirty="0" err="1"/>
              <a:t>xem</a:t>
            </a:r>
            <a:r>
              <a:rPr lang="en-US" dirty="0"/>
              <a:t> </a:t>
            </a:r>
            <a:r>
              <a:rPr lang="en-US" dirty="0" err="1"/>
              <a:t>là</a:t>
            </a:r>
            <a:r>
              <a:rPr lang="en-US" dirty="0"/>
              <a:t> </a:t>
            </a:r>
            <a:r>
              <a:rPr lang="en-US" dirty="0" err="1"/>
              <a:t>một</a:t>
            </a:r>
            <a:r>
              <a:rPr lang="en-US" dirty="0"/>
              <a:t> </a:t>
            </a:r>
            <a:r>
              <a:rPr lang="en-US" dirty="0" err="1"/>
              <a:t>thuật</a:t>
            </a:r>
            <a:r>
              <a:rPr lang="en-US" dirty="0"/>
              <a:t> </a:t>
            </a:r>
            <a:r>
              <a:rPr lang="en-US" dirty="0" err="1"/>
              <a:t>toán</a:t>
            </a:r>
            <a:r>
              <a:rPr lang="en-US" dirty="0"/>
              <a:t> </a:t>
            </a:r>
            <a:r>
              <a:rPr lang="en-US" dirty="0" err="1"/>
              <a:t>được</a:t>
            </a:r>
            <a:r>
              <a:rPr lang="en-US" dirty="0"/>
              <a:t> </a:t>
            </a:r>
            <a:r>
              <a:rPr lang="en-US" dirty="0" err="1"/>
              <a:t>tạo</a:t>
            </a:r>
            <a:r>
              <a:rPr lang="en-US" dirty="0"/>
              <a:t> </a:t>
            </a:r>
            <a:r>
              <a:rPr lang="en-US" dirty="0" err="1"/>
              <a:t>ra</a:t>
            </a:r>
            <a:r>
              <a:rPr lang="en-US" dirty="0"/>
              <a:t> </a:t>
            </a:r>
            <a:r>
              <a:rPr lang="en-US" dirty="0" err="1"/>
              <a:t>dựa</a:t>
            </a:r>
            <a:r>
              <a:rPr lang="en-US" dirty="0"/>
              <a:t> </a:t>
            </a:r>
            <a:r>
              <a:rPr lang="en-US" dirty="0" err="1"/>
              <a:t>trên</a:t>
            </a:r>
            <a:r>
              <a:rPr lang="en-US" dirty="0"/>
              <a:t> </a:t>
            </a:r>
            <a:r>
              <a:rPr lang="en-US" dirty="0" err="1"/>
              <a:t>những</a:t>
            </a:r>
            <a:r>
              <a:rPr lang="en-US" dirty="0"/>
              <a:t> </a:t>
            </a:r>
            <a:r>
              <a:rPr lang="en-US" dirty="0" err="1"/>
              <a:t>tính</a:t>
            </a:r>
            <a:r>
              <a:rPr lang="en-US" dirty="0"/>
              <a:t> </a:t>
            </a:r>
            <a:r>
              <a:rPr lang="en-US" dirty="0" err="1"/>
              <a:t>năng</a:t>
            </a:r>
            <a:r>
              <a:rPr lang="en-US" dirty="0"/>
              <a:t> </a:t>
            </a:r>
            <a:r>
              <a:rPr lang="en-US" dirty="0" err="1"/>
              <a:t>đó</a:t>
            </a:r>
            <a:r>
              <a:rPr lang="en-US" dirty="0"/>
              <a:t> </a:t>
            </a:r>
            <a:r>
              <a:rPr lang="en-US" dirty="0" err="1"/>
              <a:t>để</a:t>
            </a:r>
            <a:r>
              <a:rPr lang="en-US" dirty="0"/>
              <a:t> </a:t>
            </a:r>
            <a:r>
              <a:rPr lang="en-US" dirty="0" err="1"/>
              <a:t>phát</a:t>
            </a:r>
            <a:r>
              <a:rPr lang="en-US" dirty="0"/>
              <a:t> </a:t>
            </a:r>
            <a:r>
              <a:rPr lang="en-US" dirty="0" err="1"/>
              <a:t>hiện</a:t>
            </a:r>
            <a:r>
              <a:rPr lang="en-US" dirty="0"/>
              <a:t> </a:t>
            </a:r>
            <a:r>
              <a:rPr lang="en-US" dirty="0" err="1"/>
              <a:t>đối</a:t>
            </a:r>
            <a:r>
              <a:rPr lang="en-US" dirty="0"/>
              <a:t> </a:t>
            </a:r>
            <a:r>
              <a:rPr lang="en-US" dirty="0" err="1"/>
              <a:t>tượng</a:t>
            </a:r>
            <a:r>
              <a:rPr lang="en-US" dirty="0"/>
              <a:t>.</a:t>
            </a:r>
          </a:p>
          <a:p>
            <a:r>
              <a:rPr lang="en-US" dirty="0"/>
              <a:t>Haar Cascade </a:t>
            </a:r>
            <a:r>
              <a:rPr lang="en-US" dirty="0" err="1"/>
              <a:t>là</a:t>
            </a:r>
            <a:r>
              <a:rPr lang="en-US" dirty="0"/>
              <a:t> </a:t>
            </a:r>
            <a:r>
              <a:rPr lang="en-US" dirty="0" err="1"/>
              <a:t>một</a:t>
            </a:r>
            <a:r>
              <a:rPr lang="en-US" dirty="0"/>
              <a:t> </a:t>
            </a:r>
            <a:r>
              <a:rPr lang="en-US" dirty="0" err="1"/>
              <a:t>lớp</a:t>
            </a:r>
            <a:r>
              <a:rPr lang="en-US" dirty="0"/>
              <a:t> model </a:t>
            </a:r>
            <a:r>
              <a:rPr lang="en-US" dirty="0" err="1"/>
              <a:t>có</a:t>
            </a:r>
            <a:r>
              <a:rPr lang="en-US" dirty="0"/>
              <a:t> </a:t>
            </a:r>
            <a:r>
              <a:rPr lang="en-US" dirty="0" err="1"/>
              <a:t>thể</a:t>
            </a:r>
            <a:r>
              <a:rPr lang="en-US" dirty="0"/>
              <a:t> </a:t>
            </a:r>
            <a:r>
              <a:rPr lang="en-US" dirty="0" err="1"/>
              <a:t>giúp</a:t>
            </a:r>
            <a:r>
              <a:rPr lang="en-US" dirty="0"/>
              <a:t> </a:t>
            </a:r>
            <a:r>
              <a:rPr lang="en-US" dirty="0" err="1"/>
              <a:t>chúng</a:t>
            </a:r>
            <a:r>
              <a:rPr lang="en-US" dirty="0"/>
              <a:t> ta </a:t>
            </a:r>
            <a:r>
              <a:rPr lang="en-US" dirty="0" err="1"/>
              <a:t>nhận</a:t>
            </a:r>
            <a:r>
              <a:rPr lang="en-US" dirty="0"/>
              <a:t> </a:t>
            </a:r>
            <a:r>
              <a:rPr lang="en-US" dirty="0" err="1"/>
              <a:t>diện</a:t>
            </a:r>
            <a:r>
              <a:rPr lang="en-US" dirty="0"/>
              <a:t> </a:t>
            </a:r>
            <a:r>
              <a:rPr lang="en-US" dirty="0" err="1"/>
              <a:t>khuôn</a:t>
            </a:r>
            <a:r>
              <a:rPr lang="en-US" dirty="0"/>
              <a:t> </a:t>
            </a:r>
            <a:r>
              <a:rPr lang="en-US" dirty="0" err="1"/>
              <a:t>mặt</a:t>
            </a:r>
            <a:r>
              <a:rPr lang="en-US" dirty="0"/>
              <a:t> (Haar Cascade face detection) Haar Cascade </a:t>
            </a:r>
            <a:r>
              <a:rPr lang="en-US" dirty="0" err="1"/>
              <a:t>sử</a:t>
            </a:r>
            <a:r>
              <a:rPr lang="en-US" dirty="0"/>
              <a:t> </a:t>
            </a:r>
            <a:r>
              <a:rPr lang="en-US" dirty="0" err="1"/>
              <a:t>dụng</a:t>
            </a:r>
            <a:r>
              <a:rPr lang="en-US" dirty="0"/>
              <a:t> </a:t>
            </a:r>
            <a:r>
              <a:rPr lang="en-US" dirty="0" err="1"/>
              <a:t>các</a:t>
            </a:r>
            <a:r>
              <a:rPr lang="en-US" dirty="0"/>
              <a:t> </a:t>
            </a:r>
            <a:r>
              <a:rPr lang="en-US" dirty="0" err="1"/>
              <a:t>tầng</a:t>
            </a:r>
            <a:r>
              <a:rPr lang="en-US" dirty="0"/>
              <a:t> Haar </a:t>
            </a:r>
            <a:r>
              <a:rPr lang="en-US" dirty="0" err="1"/>
              <a:t>và</a:t>
            </a:r>
            <a:r>
              <a:rPr lang="en-US" dirty="0"/>
              <a:t> </a:t>
            </a:r>
            <a:r>
              <a:rPr lang="en-US" dirty="0" err="1"/>
              <a:t>sau</a:t>
            </a:r>
            <a:r>
              <a:rPr lang="en-US" dirty="0"/>
              <a:t> </a:t>
            </a:r>
            <a:r>
              <a:rPr lang="en-US" dirty="0" err="1"/>
              <a:t>đó</a:t>
            </a:r>
            <a:r>
              <a:rPr lang="en-US" dirty="0"/>
              <a:t> </a:t>
            </a:r>
            <a:r>
              <a:rPr lang="en-US" dirty="0" err="1"/>
              <a:t>sử</a:t>
            </a:r>
            <a:r>
              <a:rPr lang="en-US" dirty="0"/>
              <a:t> </a:t>
            </a:r>
            <a:r>
              <a:rPr lang="en-US" dirty="0" err="1"/>
              <a:t>dụng</a:t>
            </a:r>
            <a:r>
              <a:rPr lang="en-US" dirty="0"/>
              <a:t> </a:t>
            </a:r>
            <a:r>
              <a:rPr lang="en-US" dirty="0" err="1"/>
              <a:t>thật</a:t>
            </a:r>
            <a:r>
              <a:rPr lang="en-US" dirty="0"/>
              <a:t> </a:t>
            </a:r>
            <a:r>
              <a:rPr lang="en-US" dirty="0" err="1"/>
              <a:t>nhiều</a:t>
            </a:r>
            <a:r>
              <a:rPr lang="en-US" dirty="0"/>
              <a:t> </a:t>
            </a:r>
            <a:r>
              <a:rPr lang="en-US" dirty="0" err="1"/>
              <a:t>đặc</a:t>
            </a:r>
            <a:r>
              <a:rPr lang="en-US" dirty="0"/>
              <a:t> </a:t>
            </a:r>
            <a:r>
              <a:rPr lang="en-US" dirty="0" err="1"/>
              <a:t>trưng</a:t>
            </a:r>
            <a:r>
              <a:rPr lang="en-US" dirty="0"/>
              <a:t> </a:t>
            </a:r>
            <a:r>
              <a:rPr lang="en-US" dirty="0" err="1"/>
              <a:t>đó</a:t>
            </a:r>
            <a:r>
              <a:rPr lang="en-US" dirty="0"/>
              <a:t> qua </a:t>
            </a:r>
            <a:r>
              <a:rPr lang="en-US" dirty="0" err="1"/>
              <a:t>nhiều</a:t>
            </a:r>
            <a:r>
              <a:rPr lang="en-US" dirty="0"/>
              <a:t> </a:t>
            </a:r>
            <a:r>
              <a:rPr lang="en-US" dirty="0" err="1"/>
              <a:t>lượt</a:t>
            </a:r>
            <a:r>
              <a:rPr lang="en-US" dirty="0"/>
              <a:t> (Cascade) </a:t>
            </a:r>
            <a:r>
              <a:rPr lang="en-US" dirty="0" err="1"/>
              <a:t>và</a:t>
            </a:r>
            <a:r>
              <a:rPr lang="en-US" dirty="0"/>
              <a:t> </a:t>
            </a:r>
            <a:r>
              <a:rPr lang="en-US" dirty="0" err="1"/>
              <a:t>tạo</a:t>
            </a:r>
            <a:r>
              <a:rPr lang="en-US" dirty="0"/>
              <a:t> </a:t>
            </a:r>
            <a:r>
              <a:rPr lang="en-US" dirty="0" err="1"/>
              <a:t>thành</a:t>
            </a:r>
            <a:r>
              <a:rPr lang="en-US" dirty="0"/>
              <a:t> </a:t>
            </a:r>
            <a:r>
              <a:rPr lang="en-US" dirty="0" err="1"/>
              <a:t>một</a:t>
            </a:r>
            <a:r>
              <a:rPr lang="en-US" dirty="0"/>
              <a:t> </a:t>
            </a:r>
            <a:r>
              <a:rPr lang="en-US" dirty="0" err="1"/>
              <a:t>cỗ</a:t>
            </a:r>
            <a:r>
              <a:rPr lang="en-US" dirty="0"/>
              <a:t> </a:t>
            </a:r>
            <a:r>
              <a:rPr lang="en-US" dirty="0" err="1"/>
              <a:t>máy</a:t>
            </a:r>
            <a:r>
              <a:rPr lang="en-US" dirty="0"/>
              <a:t> </a:t>
            </a:r>
            <a:r>
              <a:rPr lang="en-US" dirty="0" err="1"/>
              <a:t>nhận</a:t>
            </a:r>
            <a:r>
              <a:rPr lang="en-US" dirty="0"/>
              <a:t> </a:t>
            </a:r>
            <a:r>
              <a:rPr lang="en-US" dirty="0" err="1"/>
              <a:t>diện</a:t>
            </a:r>
            <a:r>
              <a:rPr lang="en-US" dirty="0"/>
              <a:t> </a:t>
            </a:r>
            <a:r>
              <a:rPr lang="en-US" dirty="0" err="1"/>
              <a:t>khuôn</a:t>
            </a:r>
            <a:r>
              <a:rPr lang="en-US" dirty="0"/>
              <a:t> </a:t>
            </a:r>
            <a:r>
              <a:rPr lang="en-US" dirty="0" err="1"/>
              <a:t>mặt</a:t>
            </a:r>
            <a:r>
              <a:rPr lang="en-US" dirty="0"/>
              <a:t> </a:t>
            </a:r>
            <a:r>
              <a:rPr lang="en-US" dirty="0" err="1"/>
              <a:t>hoàn</a:t>
            </a:r>
            <a:r>
              <a:rPr lang="en-US" dirty="0"/>
              <a:t> </a:t>
            </a:r>
            <a:r>
              <a:rPr lang="en-US" dirty="0" err="1"/>
              <a:t>chỉnh</a:t>
            </a:r>
            <a:r>
              <a:rPr lang="en-US" dirty="0"/>
              <a:t>.</a:t>
            </a:r>
          </a:p>
          <a:p>
            <a:endParaRPr lang="en-US" dirty="0"/>
          </a:p>
        </p:txBody>
      </p:sp>
    </p:spTree>
    <p:extLst>
      <p:ext uri="{BB962C8B-B14F-4D97-AF65-F5344CB8AC3E}">
        <p14:creationId xmlns:p14="http://schemas.microsoft.com/office/powerpoint/2010/main" val="261724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FB418-244C-21F6-BE1F-5B5AAE60FBD3}"/>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Thuật toán phát hiện khuôn mặt Haar Cascade</a:t>
            </a:r>
            <a:endParaRPr lang="en-US" sz="3600" dirty="0"/>
          </a:p>
        </p:txBody>
      </p:sp>
      <p:sp>
        <p:nvSpPr>
          <p:cNvPr id="3" name="Content Placeholder 2">
            <a:extLst>
              <a:ext uri="{FF2B5EF4-FFF2-40B4-BE49-F238E27FC236}">
                <a16:creationId xmlns:a16="http://schemas.microsoft.com/office/drawing/2014/main" id="{292E60CF-1616-3FBE-8020-AFF350F9B14D}"/>
              </a:ext>
            </a:extLst>
          </p:cNvPr>
          <p:cNvSpPr>
            <a:spLocks noGrp="1"/>
          </p:cNvSpPr>
          <p:nvPr>
            <p:ph idx="1"/>
          </p:nvPr>
        </p:nvSpPr>
        <p:spPr>
          <a:xfrm>
            <a:off x="733487" y="1839384"/>
            <a:ext cx="11340526" cy="4023360"/>
          </a:xfrm>
        </p:spPr>
        <p:txBody>
          <a:bodyPr>
            <a:normAutofit/>
          </a:bodyPr>
          <a:lstStyle/>
          <a:p>
            <a:pPr marL="0" indent="0">
              <a:buNone/>
            </a:pPr>
            <a:r>
              <a:rPr lang="en-US" b="1" dirty="0">
                <a:latin typeface="Arial" panose="020B0604020202020204" pitchFamily="34" charset="0"/>
                <a:cs typeface="Arial" panose="020B0604020202020204" pitchFamily="34" charset="0"/>
              </a:rPr>
              <a:t>Haar Cascade </a:t>
            </a:r>
            <a:r>
              <a:rPr lang="en-US" b="1" dirty="0" err="1">
                <a:latin typeface="Arial" panose="020B0604020202020204" pitchFamily="34" charset="0"/>
                <a:cs typeface="Arial" panose="020B0604020202020204" pitchFamily="34" charset="0"/>
              </a:rPr>
              <a:t>hoạt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động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như</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thế</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nào</a:t>
            </a:r>
            <a:endParaRPr lang="en-US" dirty="0">
              <a:latin typeface="Arial" panose="020B0604020202020204" pitchFamily="34" charset="0"/>
              <a:cs typeface="Arial" panose="020B0604020202020204" pitchFamily="34" charset="0"/>
            </a:endParaRPr>
          </a:p>
          <a:p>
            <a:r>
              <a:rPr lang="en-US" dirty="0" err="1"/>
              <a:t>Bước</a:t>
            </a:r>
            <a:r>
              <a:rPr lang="en-US" dirty="0"/>
              <a:t> 1: </a:t>
            </a:r>
            <a:r>
              <a:rPr lang="en-US" dirty="0" err="1"/>
              <a:t>Hình</a:t>
            </a:r>
            <a:r>
              <a:rPr lang="en-US" dirty="0"/>
              <a:t> </a:t>
            </a:r>
            <a:r>
              <a:rPr lang="en-US" dirty="0" err="1"/>
              <a:t>ảnh</a:t>
            </a:r>
            <a:r>
              <a:rPr lang="en-US" dirty="0"/>
              <a:t> </a:t>
            </a:r>
            <a:r>
              <a:rPr lang="en-US" dirty="0" err="1"/>
              <a:t>được</a:t>
            </a:r>
            <a:r>
              <a:rPr lang="en-US" dirty="0"/>
              <a:t> chia </a:t>
            </a:r>
            <a:r>
              <a:rPr lang="en-US" dirty="0" err="1"/>
              <a:t>thành</a:t>
            </a:r>
            <a:r>
              <a:rPr lang="en-US" dirty="0"/>
              <a:t> </a:t>
            </a:r>
            <a:r>
              <a:rPr lang="en-US" dirty="0" err="1"/>
              <a:t>các</a:t>
            </a:r>
            <a:r>
              <a:rPr lang="en-US" dirty="0"/>
              <a:t> </a:t>
            </a:r>
            <a:r>
              <a:rPr lang="en-US" dirty="0" err="1"/>
              <a:t>phần</a:t>
            </a:r>
            <a:r>
              <a:rPr lang="en-US" dirty="0"/>
              <a:t> </a:t>
            </a:r>
            <a:r>
              <a:rPr lang="en-US" dirty="0" err="1"/>
              <a:t>nhỏ</a:t>
            </a:r>
            <a:r>
              <a:rPr lang="en-US" dirty="0"/>
              <a:t>.</a:t>
            </a:r>
          </a:p>
          <a:p>
            <a:r>
              <a:rPr lang="en-US" dirty="0" err="1"/>
              <a:t>Bước</a:t>
            </a:r>
            <a:r>
              <a:rPr lang="en-US" dirty="0"/>
              <a:t> 2: </a:t>
            </a:r>
            <a:r>
              <a:rPr lang="en-US" dirty="0" err="1"/>
              <a:t>Chúng</a:t>
            </a:r>
            <a:r>
              <a:rPr lang="en-US" dirty="0"/>
              <a:t> </a:t>
            </a:r>
            <a:r>
              <a:rPr lang="en-US" dirty="0" err="1"/>
              <a:t>tôi</a:t>
            </a:r>
            <a:r>
              <a:rPr lang="en-US" dirty="0"/>
              <a:t> </a:t>
            </a:r>
            <a:r>
              <a:rPr lang="en-US" dirty="0" err="1"/>
              <a:t>đặt</a:t>
            </a:r>
            <a:r>
              <a:rPr lang="en-US" dirty="0"/>
              <a:t> N </a:t>
            </a:r>
            <a:r>
              <a:rPr lang="en-US" dirty="0" err="1"/>
              <a:t>không</a:t>
            </a:r>
            <a:r>
              <a:rPr lang="en-US" dirty="0"/>
              <a:t> </a:t>
            </a:r>
            <a:r>
              <a:rPr lang="en-US" dirty="0" err="1"/>
              <a:t>có</a:t>
            </a:r>
            <a:r>
              <a:rPr lang="en-US" dirty="0"/>
              <a:t> </a:t>
            </a:r>
            <a:r>
              <a:rPr lang="en-US" dirty="0" err="1"/>
              <a:t>bộ</a:t>
            </a:r>
            <a:r>
              <a:rPr lang="en-US" dirty="0"/>
              <a:t> </a:t>
            </a:r>
            <a:r>
              <a:rPr lang="en-US" dirty="0" err="1"/>
              <a:t>dò</a:t>
            </a:r>
            <a:r>
              <a:rPr lang="en-US" dirty="0"/>
              <a:t> </a:t>
            </a:r>
            <a:r>
              <a:rPr lang="en-US" dirty="0" err="1"/>
              <a:t>theo</a:t>
            </a:r>
            <a:r>
              <a:rPr lang="en-US" dirty="0"/>
              <a:t> </a:t>
            </a:r>
            <a:r>
              <a:rPr lang="en-US" dirty="0" err="1"/>
              <a:t>cách</a:t>
            </a:r>
            <a:r>
              <a:rPr lang="en-US" dirty="0"/>
              <a:t> </a:t>
            </a:r>
            <a:r>
              <a:rPr lang="en-US" dirty="0" err="1"/>
              <a:t>xếp</a:t>
            </a:r>
            <a:r>
              <a:rPr lang="en-US" dirty="0"/>
              <a:t> </a:t>
            </a:r>
            <a:r>
              <a:rPr lang="en-US" dirty="0" err="1"/>
              <a:t>tầng</a:t>
            </a:r>
            <a:r>
              <a:rPr lang="en-US" dirty="0"/>
              <a:t> </a:t>
            </a:r>
            <a:r>
              <a:rPr lang="en-US" dirty="0" err="1"/>
              <a:t>trong</a:t>
            </a:r>
            <a:r>
              <a:rPr lang="en-US" dirty="0"/>
              <a:t> </a:t>
            </a:r>
            <a:r>
              <a:rPr lang="en-US" dirty="0" err="1"/>
              <a:t>đó</a:t>
            </a:r>
            <a:r>
              <a:rPr lang="en-US" dirty="0"/>
              <a:t> </a:t>
            </a:r>
            <a:r>
              <a:rPr lang="en-US" dirty="0" err="1"/>
              <a:t>mỗi</a:t>
            </a:r>
            <a:r>
              <a:rPr lang="en-US" dirty="0"/>
              <a:t> </a:t>
            </a:r>
            <a:r>
              <a:rPr lang="en-US" dirty="0" err="1"/>
              <a:t>bộ</a:t>
            </a:r>
            <a:r>
              <a:rPr lang="en-US" dirty="0"/>
              <a:t> </a:t>
            </a:r>
            <a:r>
              <a:rPr lang="en-US" dirty="0" err="1"/>
              <a:t>phát</a:t>
            </a:r>
            <a:r>
              <a:rPr lang="en-US" dirty="0"/>
              <a:t> </a:t>
            </a:r>
            <a:r>
              <a:rPr lang="en-US" dirty="0" err="1"/>
              <a:t>hiện</a:t>
            </a:r>
            <a:r>
              <a:rPr lang="en-US" dirty="0"/>
              <a:t> </a:t>
            </a:r>
            <a:r>
              <a:rPr lang="en-US" dirty="0" err="1"/>
              <a:t>sự</a:t>
            </a:r>
            <a:r>
              <a:rPr lang="en-US" dirty="0"/>
              <a:t> </a:t>
            </a:r>
            <a:r>
              <a:rPr lang="en-US" dirty="0" err="1"/>
              <a:t>kết</a:t>
            </a:r>
            <a:r>
              <a:rPr lang="en-US" dirty="0"/>
              <a:t> </a:t>
            </a:r>
            <a:r>
              <a:rPr lang="en-US" dirty="0" err="1"/>
              <a:t>hợp</a:t>
            </a:r>
            <a:r>
              <a:rPr lang="en-US" dirty="0"/>
              <a:t> </a:t>
            </a:r>
            <a:r>
              <a:rPr lang="en-US" dirty="0" err="1"/>
              <a:t>của</a:t>
            </a:r>
            <a:r>
              <a:rPr lang="en-US" dirty="0"/>
              <a:t> </a:t>
            </a:r>
            <a:r>
              <a:rPr lang="en-US" dirty="0" err="1"/>
              <a:t>các</a:t>
            </a:r>
            <a:r>
              <a:rPr lang="en-US" dirty="0"/>
              <a:t> </a:t>
            </a:r>
            <a:r>
              <a:rPr lang="en-US" dirty="0" err="1"/>
              <a:t>loại</a:t>
            </a:r>
            <a:r>
              <a:rPr lang="en-US" dirty="0"/>
              <a:t> </a:t>
            </a:r>
            <a:r>
              <a:rPr lang="en-US" dirty="0" err="1"/>
              <a:t>đặc</a:t>
            </a:r>
            <a:r>
              <a:rPr lang="en-US" dirty="0"/>
              <a:t> </a:t>
            </a:r>
            <a:r>
              <a:rPr lang="en-US" dirty="0" err="1"/>
              <a:t>trưng</a:t>
            </a:r>
            <a:r>
              <a:rPr lang="en-US" dirty="0"/>
              <a:t> </a:t>
            </a:r>
            <a:r>
              <a:rPr lang="en-US" dirty="0" err="1"/>
              <a:t>khác</a:t>
            </a:r>
            <a:r>
              <a:rPr lang="en-US" dirty="0"/>
              <a:t> </a:t>
            </a:r>
            <a:r>
              <a:rPr lang="en-US" dirty="0" err="1"/>
              <a:t>nhau</a:t>
            </a:r>
            <a:r>
              <a:rPr lang="en-US" dirty="0"/>
              <a:t> </a:t>
            </a:r>
            <a:r>
              <a:rPr lang="en-US" dirty="0" err="1"/>
              <a:t>từ</a:t>
            </a:r>
            <a:r>
              <a:rPr lang="en-US" dirty="0"/>
              <a:t> </a:t>
            </a:r>
            <a:r>
              <a:rPr lang="en-US" dirty="0" err="1"/>
              <a:t>các</a:t>
            </a:r>
            <a:r>
              <a:rPr lang="en-US" dirty="0"/>
              <a:t> </a:t>
            </a:r>
            <a:r>
              <a:rPr lang="en-US" dirty="0" err="1"/>
              <a:t>hình</a:t>
            </a:r>
            <a:r>
              <a:rPr lang="en-US" dirty="0"/>
              <a:t> </a:t>
            </a:r>
            <a:r>
              <a:rPr lang="en-US" dirty="0" err="1"/>
              <a:t>ảnh</a:t>
            </a:r>
            <a:r>
              <a:rPr lang="en-US" dirty="0"/>
              <a:t> </a:t>
            </a:r>
            <a:r>
              <a:rPr lang="en-US" dirty="0" err="1"/>
              <a:t>được</a:t>
            </a:r>
            <a:r>
              <a:rPr lang="en-US" dirty="0"/>
              <a:t> </a:t>
            </a:r>
            <a:r>
              <a:rPr lang="en-US" dirty="0" err="1"/>
              <a:t>truyền</a:t>
            </a:r>
            <a:r>
              <a:rPr lang="en-US" dirty="0"/>
              <a:t> qua. </a:t>
            </a:r>
          </a:p>
          <a:p>
            <a:r>
              <a:rPr lang="en-US" dirty="0" err="1"/>
              <a:t>Bước</a:t>
            </a:r>
            <a:r>
              <a:rPr lang="en-US" dirty="0"/>
              <a:t> 3: </a:t>
            </a:r>
            <a:r>
              <a:rPr lang="en-US" dirty="0" err="1"/>
              <a:t>Hình</a:t>
            </a:r>
            <a:r>
              <a:rPr lang="en-US" dirty="0"/>
              <a:t> </a:t>
            </a:r>
            <a:r>
              <a:rPr lang="en-US" dirty="0" err="1"/>
              <a:t>ảnh</a:t>
            </a:r>
            <a:r>
              <a:rPr lang="en-US" dirty="0"/>
              <a:t> </a:t>
            </a:r>
            <a:r>
              <a:rPr lang="en-US" dirty="0" err="1"/>
              <a:t>có</a:t>
            </a:r>
            <a:r>
              <a:rPr lang="en-US" dirty="0"/>
              <a:t> </a:t>
            </a:r>
            <a:r>
              <a:rPr lang="en-US" dirty="0" err="1"/>
              <a:t>độ</a:t>
            </a:r>
            <a:r>
              <a:rPr lang="en-US" dirty="0"/>
              <a:t> tin </a:t>
            </a:r>
            <a:r>
              <a:rPr lang="en-US" dirty="0" err="1"/>
              <a:t>cậy</a:t>
            </a:r>
            <a:r>
              <a:rPr lang="en-US" dirty="0"/>
              <a:t> </a:t>
            </a:r>
            <a:r>
              <a:rPr lang="en-US" dirty="0" err="1"/>
              <a:t>cao</a:t>
            </a:r>
            <a:r>
              <a:rPr lang="en-US" dirty="0"/>
              <a:t> </a:t>
            </a:r>
            <a:r>
              <a:rPr lang="en-US" dirty="0" err="1"/>
              <a:t>nhất</a:t>
            </a:r>
            <a:r>
              <a:rPr lang="en-US" dirty="0"/>
              <a:t> </a:t>
            </a:r>
            <a:r>
              <a:rPr lang="en-US" dirty="0" err="1"/>
              <a:t>được</a:t>
            </a:r>
            <a:r>
              <a:rPr lang="en-US" dirty="0"/>
              <a:t> </a:t>
            </a:r>
            <a:r>
              <a:rPr lang="en-US" dirty="0" err="1"/>
              <a:t>phát</a:t>
            </a:r>
            <a:r>
              <a:rPr lang="en-US" dirty="0"/>
              <a:t> </a:t>
            </a:r>
            <a:r>
              <a:rPr lang="en-US" dirty="0" err="1"/>
              <a:t>hiện</a:t>
            </a:r>
            <a:r>
              <a:rPr lang="en-US" dirty="0"/>
              <a:t> </a:t>
            </a:r>
            <a:r>
              <a:rPr lang="en-US" dirty="0" err="1"/>
              <a:t>dưới</a:t>
            </a:r>
            <a:r>
              <a:rPr lang="en-US" dirty="0"/>
              <a:t> </a:t>
            </a:r>
            <a:r>
              <a:rPr lang="en-US" dirty="0" err="1"/>
              <a:t>dạng</a:t>
            </a:r>
            <a:r>
              <a:rPr lang="en-US" dirty="0"/>
              <a:t> </a:t>
            </a:r>
            <a:r>
              <a:rPr lang="en-US" dirty="0" err="1"/>
              <a:t>khuôn</a:t>
            </a:r>
            <a:r>
              <a:rPr lang="en-US" dirty="0"/>
              <a:t> </a:t>
            </a:r>
            <a:r>
              <a:rPr lang="en-US" dirty="0" err="1"/>
              <a:t>mặt</a:t>
            </a:r>
            <a:r>
              <a:rPr lang="en-US" dirty="0"/>
              <a:t> </a:t>
            </a:r>
            <a:r>
              <a:rPr lang="en-US" dirty="0" err="1"/>
              <a:t>và</a:t>
            </a:r>
            <a:r>
              <a:rPr lang="en-US" dirty="0"/>
              <a:t> </a:t>
            </a:r>
            <a:r>
              <a:rPr lang="en-US" dirty="0" err="1"/>
              <a:t>được</a:t>
            </a:r>
            <a:r>
              <a:rPr lang="en-US" dirty="0"/>
              <a:t> </a:t>
            </a:r>
            <a:r>
              <a:rPr lang="en-US" dirty="0" err="1"/>
              <a:t>gửi</a:t>
            </a:r>
            <a:r>
              <a:rPr lang="en-US" dirty="0"/>
              <a:t> </a:t>
            </a:r>
            <a:r>
              <a:rPr lang="en-US" dirty="0" err="1"/>
              <a:t>đến</a:t>
            </a:r>
            <a:r>
              <a:rPr lang="en-US" dirty="0"/>
              <a:t> </a:t>
            </a:r>
            <a:r>
              <a:rPr lang="en-US" dirty="0" err="1"/>
              <a:t>bộ</a:t>
            </a:r>
            <a:r>
              <a:rPr lang="en-US" dirty="0"/>
              <a:t> </a:t>
            </a:r>
            <a:r>
              <a:rPr lang="en-US" dirty="0" err="1"/>
              <a:t>tích</a:t>
            </a:r>
            <a:r>
              <a:rPr lang="en-US" dirty="0"/>
              <a:t> </a:t>
            </a:r>
            <a:r>
              <a:rPr lang="en-US" dirty="0" err="1"/>
              <a:t>lũy</a:t>
            </a:r>
            <a:r>
              <a:rPr lang="en-US" dirty="0"/>
              <a:t> </a:t>
            </a:r>
            <a:r>
              <a:rPr lang="en-US" dirty="0" err="1"/>
              <a:t>trong</a:t>
            </a:r>
            <a:r>
              <a:rPr lang="en-US" dirty="0"/>
              <a:t> </a:t>
            </a:r>
            <a:r>
              <a:rPr lang="en-US" dirty="0" err="1"/>
              <a:t>khi</a:t>
            </a:r>
            <a:r>
              <a:rPr lang="en-US" dirty="0"/>
              <a:t> </a:t>
            </a:r>
            <a:r>
              <a:rPr lang="en-US" dirty="0" err="1"/>
              <a:t>phần</a:t>
            </a:r>
            <a:r>
              <a:rPr lang="en-US" dirty="0"/>
              <a:t> </a:t>
            </a:r>
            <a:r>
              <a:rPr lang="en-US" dirty="0" err="1"/>
              <a:t>còn</a:t>
            </a:r>
            <a:r>
              <a:rPr lang="en-US" dirty="0"/>
              <a:t> </a:t>
            </a:r>
            <a:r>
              <a:rPr lang="en-US" dirty="0" err="1"/>
              <a:t>lại</a:t>
            </a:r>
            <a:r>
              <a:rPr lang="en-US" dirty="0"/>
              <a:t> </a:t>
            </a:r>
            <a:r>
              <a:rPr lang="en-US" dirty="0" err="1"/>
              <a:t>bị</a:t>
            </a:r>
            <a:r>
              <a:rPr lang="en-US" dirty="0"/>
              <a:t> </a:t>
            </a:r>
            <a:r>
              <a:rPr lang="en-US" dirty="0" err="1"/>
              <a:t>từ</a:t>
            </a:r>
            <a:r>
              <a:rPr lang="en-US" dirty="0"/>
              <a:t> </a:t>
            </a:r>
            <a:r>
              <a:rPr lang="en-US" dirty="0" err="1"/>
              <a:t>chối</a:t>
            </a:r>
            <a:r>
              <a:rPr lang="en-US" dirty="0"/>
              <a:t>. Do </a:t>
            </a:r>
            <a:r>
              <a:rPr lang="en-US" dirty="0" err="1"/>
              <a:t>đó</a:t>
            </a:r>
            <a:r>
              <a:rPr lang="en-US" dirty="0"/>
              <a:t>, Cascade </a:t>
            </a:r>
            <a:r>
              <a:rPr lang="en-US" dirty="0" err="1"/>
              <a:t>tìm</a:t>
            </a:r>
            <a:r>
              <a:rPr lang="en-US" dirty="0"/>
              <a:t> </a:t>
            </a:r>
            <a:r>
              <a:rPr lang="en-US" dirty="0" err="1"/>
              <a:t>nạp</a:t>
            </a:r>
            <a:r>
              <a:rPr lang="en-US" dirty="0"/>
              <a:t> </a:t>
            </a:r>
            <a:r>
              <a:rPr lang="en-US" dirty="0" err="1"/>
              <a:t>khung</a:t>
            </a:r>
            <a:r>
              <a:rPr lang="en-US" dirty="0"/>
              <a:t> </a:t>
            </a:r>
            <a:r>
              <a:rPr lang="en-US" dirty="0" err="1"/>
              <a:t>hình</a:t>
            </a:r>
            <a:r>
              <a:rPr lang="en-US" dirty="0"/>
              <a:t> / </a:t>
            </a:r>
            <a:r>
              <a:rPr lang="en-US" dirty="0" err="1"/>
              <a:t>hình</a:t>
            </a:r>
            <a:r>
              <a:rPr lang="en-US" dirty="0"/>
              <a:t> </a:t>
            </a:r>
            <a:r>
              <a:rPr lang="en-US" dirty="0" err="1"/>
              <a:t>ảnh</a:t>
            </a:r>
            <a:r>
              <a:rPr lang="en-US" dirty="0"/>
              <a:t> </a:t>
            </a:r>
            <a:r>
              <a:rPr lang="en-US" dirty="0" err="1"/>
              <a:t>tiếp</a:t>
            </a:r>
            <a:r>
              <a:rPr lang="en-US" dirty="0"/>
              <a:t> </a:t>
            </a:r>
            <a:r>
              <a:rPr lang="en-US" dirty="0" err="1"/>
              <a:t>theo</a:t>
            </a:r>
            <a:r>
              <a:rPr lang="en-US" dirty="0"/>
              <a:t> </a:t>
            </a:r>
            <a:r>
              <a:rPr lang="en-US" dirty="0" err="1"/>
              <a:t>nếu</a:t>
            </a:r>
            <a:r>
              <a:rPr lang="en-US" dirty="0"/>
              <a:t> </a:t>
            </a:r>
            <a:r>
              <a:rPr lang="en-US" dirty="0" err="1"/>
              <a:t>còn</a:t>
            </a:r>
            <a:r>
              <a:rPr lang="en-US" dirty="0"/>
              <a:t> </a:t>
            </a:r>
            <a:r>
              <a:rPr lang="en-US" dirty="0" err="1"/>
              <a:t>lại</a:t>
            </a:r>
            <a:r>
              <a:rPr lang="en-US" dirty="0"/>
              <a:t> </a:t>
            </a:r>
            <a:r>
              <a:rPr lang="en-US" dirty="0" err="1"/>
              <a:t>và</a:t>
            </a:r>
            <a:r>
              <a:rPr lang="en-US" dirty="0"/>
              <a:t> </a:t>
            </a:r>
            <a:r>
              <a:rPr lang="en-US" dirty="0" err="1"/>
              <a:t>bắt</a:t>
            </a:r>
            <a:r>
              <a:rPr lang="en-US" dirty="0"/>
              <a:t> </a:t>
            </a:r>
            <a:r>
              <a:rPr lang="en-US" dirty="0" err="1"/>
              <a:t>đầu</a:t>
            </a:r>
            <a:r>
              <a:rPr lang="en-US" dirty="0"/>
              <a:t> </a:t>
            </a:r>
            <a:r>
              <a:rPr lang="en-US" dirty="0" err="1"/>
              <a:t>lại</a:t>
            </a:r>
            <a:r>
              <a:rPr lang="en-US" dirty="0"/>
              <a:t> </a:t>
            </a:r>
            <a:r>
              <a:rPr lang="en-US" dirty="0" err="1"/>
              <a:t>quá</a:t>
            </a:r>
            <a:r>
              <a:rPr lang="en-US" dirty="0"/>
              <a:t> </a:t>
            </a:r>
            <a:r>
              <a:rPr lang="en-US" dirty="0" err="1"/>
              <a:t>trình</a:t>
            </a:r>
            <a:r>
              <a:rPr lang="en-US" dirty="0"/>
              <a:t>.</a:t>
            </a:r>
          </a:p>
          <a:p>
            <a:pPr marL="0" indent="0">
              <a:buNone/>
            </a:pPr>
            <a:endParaRPr lang="en-US" dirty="0"/>
          </a:p>
        </p:txBody>
      </p:sp>
      <p:pic>
        <p:nvPicPr>
          <p:cNvPr id="4098" name="Picture 2">
            <a:extLst>
              <a:ext uri="{FF2B5EF4-FFF2-40B4-BE49-F238E27FC236}">
                <a16:creationId xmlns:a16="http://schemas.microsoft.com/office/drawing/2014/main" id="{FCB8592D-5413-5E92-A2CA-19C2DAEF24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466" y="4363850"/>
            <a:ext cx="4321067" cy="187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1168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9D619-B5D2-5E2C-BBD9-DE973CAAE09E}"/>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Giả thiết khoa học của đề tài</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F79010E-3B75-0A33-CDF7-1BFE65902CC9}"/>
              </a:ext>
            </a:extLst>
          </p:cNvPr>
          <p:cNvSpPr>
            <a:spLocks noGrp="1"/>
          </p:cNvSpPr>
          <p:nvPr>
            <p:ph idx="1"/>
          </p:nvPr>
        </p:nvSpPr>
        <p:spPr/>
        <p:txBody>
          <a:bodyPr/>
          <a:lstStyle/>
          <a:p>
            <a:r>
              <a:rPr lang="en-US" dirty="0" err="1">
                <a:latin typeface="Arial" panose="020B0604020202020204" pitchFamily="34" charset="0"/>
                <a:cs typeface="Arial" panose="020B0604020202020204" pitchFamily="34" charset="0"/>
              </a:rPr>
              <a:t>Nếu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viện</a:t>
            </a:r>
            <a:r>
              <a:rPr lang="en-US" dirty="0">
                <a:latin typeface="Arial" panose="020B0604020202020204" pitchFamily="34" charset="0"/>
                <a:cs typeface="Arial" panose="020B0604020202020204" pitchFamily="34" charset="0"/>
              </a:rPr>
              <a:t> OpenCV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 Haar Cascade </a:t>
            </a:r>
            <a:r>
              <a:rPr lang="en-US" dirty="0" err="1">
                <a:latin typeface="Arial" panose="020B0604020202020204" pitchFamily="34" charset="0"/>
                <a:cs typeface="Arial" panose="020B0604020202020204" pitchFamily="34" charset="0"/>
              </a:rPr>
              <a:t>thì</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xây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dựng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một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webcam </a:t>
            </a:r>
            <a:r>
              <a:rPr lang="en-US" dirty="0" err="1">
                <a:latin typeface="Arial" panose="020B0604020202020204" pitchFamily="34" charset="0"/>
                <a:cs typeface="Arial" panose="020B0604020202020204" pitchFamily="34" charset="0"/>
              </a:rPr>
              <a:t>hoạt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ổn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thường</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Giả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này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qua </a:t>
            </a:r>
            <a:r>
              <a:rPr lang="en-US" dirty="0" err="1">
                <a:latin typeface="Arial" panose="020B0604020202020204" pitchFamily="34" charset="0"/>
                <a:cs typeface="Arial" panose="020B0604020202020204" pitchFamily="34" charset="0"/>
              </a:rPr>
              <a:t>quá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xây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dựng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trường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tế</a:t>
            </a:r>
            <a:r>
              <a:rPr lang="en-US"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3471617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92DF4-AAA9-523F-E87D-DDC22AC9F638}"/>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Phương pháp nghiên cứu</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B45FA24-E704-2D95-6CAD-3AE8E9DD5847}"/>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Các </a:t>
            </a:r>
            <a:r>
              <a:rPr lang="en-US" dirty="0" err="1">
                <a:latin typeface="Arial" panose="020B0604020202020204" pitchFamily="34" charset="0"/>
                <a:cs typeface="Arial" panose="020B0604020202020204" pitchFamily="34" charset="0"/>
              </a:rPr>
              <a:t>phương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cứu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đồ</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a:t>
            </a:r>
            <a:r>
              <a:rPr lang="en-US" dirty="0">
                <a:latin typeface="Arial" panose="020B0604020202020204" pitchFamily="34" charset="0"/>
                <a:cs typeface="Arial" panose="020B0604020202020204" pitchFamily="34" charset="0"/>
              </a:rPr>
              <a:t> bao </a:t>
            </a:r>
            <a:r>
              <a:rPr lang="en-US" dirty="0" err="1">
                <a:latin typeface="Arial" panose="020B0604020202020204" pitchFamily="34" charset="0"/>
                <a:cs typeface="Arial" panose="020B0604020202020204" pitchFamily="34" charset="0"/>
              </a:rPr>
              <a:t>gồm</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-Phương </a:t>
            </a:r>
            <a:r>
              <a:rPr lang="en-US" dirty="0" err="1">
                <a:latin typeface="Arial" panose="020B0604020202020204" pitchFamily="34" charset="0"/>
                <a:cs typeface="Arial" panose="020B0604020202020204" pitchFamily="34" charset="0"/>
              </a:rPr>
              <a:t>pháp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cứu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thuyết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hiểu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OpenCV.</a:t>
            </a:r>
          </a:p>
          <a:p>
            <a:r>
              <a:rPr lang="en-US" dirty="0">
                <a:latin typeface="Arial" panose="020B0604020202020204" pitchFamily="34" charset="0"/>
                <a:cs typeface="Arial" panose="020B0604020202020204" pitchFamily="34" charset="0"/>
              </a:rPr>
              <a:t>-Phương </a:t>
            </a:r>
            <a:r>
              <a:rPr lang="en-US" dirty="0" err="1">
                <a:latin typeface="Arial" panose="020B0604020202020204" pitchFamily="34" charset="0"/>
                <a:cs typeface="Arial" panose="020B0604020202020204" pitchFamily="34" charset="0"/>
              </a:rPr>
              <a:t>pháp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xây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dựng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-Phương </a:t>
            </a:r>
            <a:r>
              <a:rPr lang="en-US" dirty="0" err="1">
                <a:latin typeface="Arial" panose="020B0604020202020204" pitchFamily="34" charset="0"/>
                <a:cs typeface="Arial" panose="020B0604020202020204" pitchFamily="34" charset="0"/>
              </a:rPr>
              <a:t>pháp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tích</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đánh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a:t>
            </a:r>
            <a:r>
              <a:rPr lang="en-US" dirty="0">
                <a:latin typeface="Arial" panose="020B0604020202020204" pitchFamily="34" charset="0"/>
                <a:cs typeface="Arial" panose="020B0604020202020204" pitchFamily="34" charset="0"/>
              </a:rPr>
              <a:t>: so </a:t>
            </a:r>
            <a:r>
              <a:rPr lang="en-US" dirty="0" err="1">
                <a:latin typeface="Arial" panose="020B0604020202020204" pitchFamily="34" charset="0"/>
                <a:cs typeface="Arial" panose="020B0604020202020204" pitchFamily="34" charset="0"/>
              </a:rPr>
              <a:t>sánh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nhau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6048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6347D-239E-CAD9-3F5B-395B74268A58}"/>
              </a:ext>
            </a:extLst>
          </p:cNvPr>
          <p:cNvSpPr>
            <a:spLocks noGrp="1"/>
          </p:cNvSpPr>
          <p:nvPr>
            <p:ph type="title"/>
          </p:nvPr>
        </p:nvSpPr>
        <p:spPr>
          <a:xfrm>
            <a:off x="737419" y="286603"/>
            <a:ext cx="10943303" cy="1450757"/>
          </a:xfrm>
        </p:spPr>
        <p:txBody>
          <a:bodyPr>
            <a:normAutofit/>
          </a:bodyPr>
          <a:lstStyle/>
          <a:p>
            <a:r>
              <a:rPr lang="en-US" sz="4000" b="1" dirty="0">
                <a:latin typeface="Arial" panose="020B0604020202020204" pitchFamily="34" charset="0"/>
                <a:cs typeface="Arial" panose="020B0604020202020204" pitchFamily="34" charset="0"/>
              </a:rPr>
              <a:t>CHƯƠNG 3:HIỆN THỰC HÓA NGHIÊN CỨU</a:t>
            </a:r>
          </a:p>
        </p:txBody>
      </p:sp>
      <p:sp>
        <p:nvSpPr>
          <p:cNvPr id="3" name="Content Placeholder 2">
            <a:extLst>
              <a:ext uri="{FF2B5EF4-FFF2-40B4-BE49-F238E27FC236}">
                <a16:creationId xmlns:a16="http://schemas.microsoft.com/office/drawing/2014/main" id="{EB2CF3F7-DE82-BF5C-8246-799A5E38B8F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914724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66C06-98CE-660F-3486-CA852A08523E}"/>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Tổng quan quá trình hiện thực hóa</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1ABD17-DA26-44F9-96DB-7366F205A7AF}"/>
              </a:ext>
            </a:extLst>
          </p:cNvPr>
          <p:cNvSpPr>
            <a:spLocks noGrp="1"/>
          </p:cNvSpPr>
          <p:nvPr>
            <p:ph idx="1"/>
          </p:nvPr>
        </p:nvSpPr>
        <p:spPr/>
        <p:txBody>
          <a:bodyPr/>
          <a:lstStyle/>
          <a:p>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tuần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gồm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đoạn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Thu </a:t>
            </a:r>
            <a:r>
              <a:rPr lang="en-US" dirty="0" err="1">
                <a:latin typeface="Arial" panose="020B0604020202020204" pitchFamily="34" charset="0"/>
                <a:cs typeface="Arial" panose="020B0604020202020204" pitchFamily="34" charset="0"/>
              </a:rPr>
              <a:t>thập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Huấn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luyện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endParaRPr lang="en-US" dirty="0">
              <a:latin typeface="Arial" panose="020B0604020202020204" pitchFamily="34" charset="0"/>
              <a:cs typeface="Arial" panose="020B0604020202020204" pitchFamily="34" charset="0"/>
            </a:endParaRPr>
          </a:p>
          <a:p>
            <a:endParaRPr lang="en-US" dirty="0"/>
          </a:p>
          <a:p>
            <a:endParaRPr lang="en-US" dirty="0"/>
          </a:p>
        </p:txBody>
      </p:sp>
    </p:spTree>
    <p:extLst>
      <p:ext uri="{BB962C8B-B14F-4D97-AF65-F5344CB8AC3E}">
        <p14:creationId xmlns:p14="http://schemas.microsoft.com/office/powerpoint/2010/main" val="277759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693CE-F3B6-B75C-AC76-E13F13B05E8A}"/>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Thu thập dữ liệu khuôn mặt</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1E87398-B192-C739-AB33-80ECA32A668E}"/>
              </a:ext>
            </a:extLst>
          </p:cNvPr>
          <p:cNvSpPr>
            <a:spLocks noGrp="1"/>
          </p:cNvSpPr>
          <p:nvPr>
            <p:ph idx="1"/>
          </p:nvPr>
        </p:nvSpPr>
        <p:spPr/>
        <p:txBody>
          <a:bodyPr/>
          <a:lstStyle/>
          <a:p>
            <a:r>
              <a:rPr lang="x-none" b="1" dirty="0"/>
              <a:t>Mục đích</a:t>
            </a:r>
            <a:endParaRPr lang="en-US" b="1" dirty="0"/>
          </a:p>
          <a:p>
            <a:r>
              <a:rPr lang="en-US" dirty="0"/>
              <a:t>Giai </a:t>
            </a:r>
            <a:r>
              <a:rPr lang="en-US" dirty="0" err="1"/>
              <a:t>đoạn</a:t>
            </a:r>
            <a:r>
              <a:rPr lang="en-US" dirty="0"/>
              <a:t> </a:t>
            </a:r>
            <a:r>
              <a:rPr lang="en-US" dirty="0" err="1"/>
              <a:t>thu</a:t>
            </a:r>
            <a:r>
              <a:rPr lang="en-US" dirty="0"/>
              <a:t> </a:t>
            </a:r>
            <a:r>
              <a:rPr lang="en-US" dirty="0" err="1"/>
              <a:t>thập</a:t>
            </a:r>
            <a:r>
              <a:rPr lang="en-US" dirty="0"/>
              <a:t> </a:t>
            </a:r>
            <a:r>
              <a:rPr lang="en-US" dirty="0" err="1"/>
              <a:t>dữ</a:t>
            </a:r>
            <a:r>
              <a:rPr lang="en-US" dirty="0"/>
              <a:t> </a:t>
            </a:r>
            <a:r>
              <a:rPr lang="en-US" dirty="0" err="1"/>
              <a:t>liệu</a:t>
            </a:r>
            <a:r>
              <a:rPr lang="en-US" dirty="0"/>
              <a:t> </a:t>
            </a:r>
            <a:r>
              <a:rPr lang="en-US" dirty="0" err="1"/>
              <a:t>nhằm</a:t>
            </a:r>
            <a:r>
              <a:rPr lang="en-US" dirty="0"/>
              <a:t> </a:t>
            </a:r>
            <a:r>
              <a:rPr lang="en-US" dirty="0" err="1"/>
              <a:t>xây</a:t>
            </a:r>
            <a:r>
              <a:rPr lang="en-US" dirty="0"/>
              <a:t> </a:t>
            </a:r>
            <a:r>
              <a:rPr lang="en-US" dirty="0" err="1"/>
              <a:t>dựng</a:t>
            </a:r>
            <a:r>
              <a:rPr lang="en-US" dirty="0"/>
              <a:t> </a:t>
            </a:r>
            <a:r>
              <a:rPr lang="en-US" dirty="0" err="1"/>
              <a:t>tập</a:t>
            </a:r>
            <a:r>
              <a:rPr lang="en-US" dirty="0"/>
              <a:t> </a:t>
            </a:r>
            <a:r>
              <a:rPr lang="en-US" dirty="0" err="1"/>
              <a:t>ảnh</a:t>
            </a:r>
            <a:r>
              <a:rPr lang="en-US" dirty="0"/>
              <a:t> </a:t>
            </a:r>
            <a:r>
              <a:rPr lang="en-US" dirty="0" err="1"/>
              <a:t>khuôn</a:t>
            </a:r>
            <a:r>
              <a:rPr lang="en-US" dirty="0"/>
              <a:t> </a:t>
            </a:r>
            <a:r>
              <a:rPr lang="en-US" dirty="0" err="1"/>
              <a:t>mặt</a:t>
            </a:r>
            <a:r>
              <a:rPr lang="en-US" dirty="0"/>
              <a:t> </a:t>
            </a:r>
            <a:r>
              <a:rPr lang="en-US" dirty="0" err="1"/>
              <a:t>cho</a:t>
            </a:r>
            <a:r>
              <a:rPr lang="en-US" dirty="0"/>
              <a:t> </a:t>
            </a:r>
            <a:r>
              <a:rPr lang="en-US" dirty="0" err="1"/>
              <a:t>từng</a:t>
            </a:r>
            <a:r>
              <a:rPr lang="en-US" dirty="0"/>
              <a:t> </a:t>
            </a:r>
            <a:r>
              <a:rPr lang="en-US" dirty="0" err="1"/>
              <a:t>người</a:t>
            </a:r>
            <a:r>
              <a:rPr lang="en-US" dirty="0"/>
              <a:t> </a:t>
            </a:r>
            <a:r>
              <a:rPr lang="en-US" dirty="0" err="1"/>
              <a:t>dùng</a:t>
            </a:r>
            <a:r>
              <a:rPr lang="en-US" dirty="0"/>
              <a:t>, </a:t>
            </a:r>
            <a:r>
              <a:rPr lang="en-US" dirty="0" err="1"/>
              <a:t>làm</a:t>
            </a:r>
            <a:r>
              <a:rPr lang="en-US" dirty="0"/>
              <a:t> </a:t>
            </a:r>
            <a:r>
              <a:rPr lang="en-US" dirty="0" err="1"/>
              <a:t>dữ</a:t>
            </a:r>
            <a:r>
              <a:rPr lang="en-US" dirty="0"/>
              <a:t> </a:t>
            </a:r>
            <a:r>
              <a:rPr lang="en-US" dirty="0" err="1"/>
              <a:t>liệu</a:t>
            </a:r>
            <a:r>
              <a:rPr lang="en-US" dirty="0"/>
              <a:t> </a:t>
            </a:r>
            <a:r>
              <a:rPr lang="en-US" dirty="0" err="1"/>
              <a:t>đầu</a:t>
            </a:r>
            <a:r>
              <a:rPr lang="en-US" dirty="0"/>
              <a:t> </a:t>
            </a:r>
            <a:r>
              <a:rPr lang="en-US" dirty="0" err="1"/>
              <a:t>vào</a:t>
            </a:r>
            <a:r>
              <a:rPr lang="en-US" dirty="0"/>
              <a:t> </a:t>
            </a:r>
            <a:r>
              <a:rPr lang="en-US" dirty="0" err="1"/>
              <a:t>cho</a:t>
            </a:r>
            <a:r>
              <a:rPr lang="en-US" dirty="0"/>
              <a:t> </a:t>
            </a:r>
            <a:r>
              <a:rPr lang="en-US" dirty="0" err="1"/>
              <a:t>quá</a:t>
            </a:r>
            <a:r>
              <a:rPr lang="en-US" dirty="0"/>
              <a:t> </a:t>
            </a:r>
            <a:r>
              <a:rPr lang="en-US" dirty="0" err="1"/>
              <a:t>trình</a:t>
            </a:r>
            <a:r>
              <a:rPr lang="en-US" dirty="0"/>
              <a:t> </a:t>
            </a:r>
            <a:r>
              <a:rPr lang="en-US" dirty="0" err="1"/>
              <a:t>huấn</a:t>
            </a:r>
            <a:r>
              <a:rPr lang="en-US" dirty="0"/>
              <a:t> </a:t>
            </a:r>
            <a:r>
              <a:rPr lang="en-US" dirty="0" err="1"/>
              <a:t>luyện</a:t>
            </a:r>
            <a:r>
              <a:rPr lang="en-US" dirty="0"/>
              <a:t> </a:t>
            </a:r>
            <a:r>
              <a:rPr lang="en-US" dirty="0" err="1"/>
              <a:t>mô</a:t>
            </a:r>
            <a:r>
              <a:rPr lang="en-US" dirty="0"/>
              <a:t> </a:t>
            </a:r>
            <a:r>
              <a:rPr lang="en-US" dirty="0" err="1"/>
              <a:t>hình</a:t>
            </a:r>
            <a:r>
              <a:rPr lang="en-US" dirty="0"/>
              <a:t> </a:t>
            </a:r>
            <a:r>
              <a:rPr lang="en-US" dirty="0" err="1"/>
              <a:t>nhận</a:t>
            </a:r>
            <a:r>
              <a:rPr lang="en-US" dirty="0"/>
              <a:t> </a:t>
            </a:r>
            <a:r>
              <a:rPr lang="en-US" dirty="0" err="1"/>
              <a:t>diện</a:t>
            </a:r>
            <a:r>
              <a:rPr lang="en-US" dirty="0"/>
              <a:t>.</a:t>
            </a:r>
          </a:p>
          <a:p>
            <a:endParaRPr lang="en-US" b="1" dirty="0"/>
          </a:p>
          <a:p>
            <a:endParaRPr lang="en-US" dirty="0"/>
          </a:p>
        </p:txBody>
      </p:sp>
    </p:spTree>
    <p:extLst>
      <p:ext uri="{BB962C8B-B14F-4D97-AF65-F5344CB8AC3E}">
        <p14:creationId xmlns:p14="http://schemas.microsoft.com/office/powerpoint/2010/main" val="2576363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FF049-C385-F3AF-05E9-688D5DEBCF6D}"/>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Thu thập dữ liệu khuôn mặt</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97319F4-72E1-9AE5-29C2-B97FFBD4CCB1}"/>
              </a:ext>
            </a:extLst>
          </p:cNvPr>
          <p:cNvSpPr>
            <a:spLocks noGrp="1"/>
          </p:cNvSpPr>
          <p:nvPr>
            <p:ph idx="1"/>
          </p:nvPr>
        </p:nvSpPr>
        <p:spPr/>
        <p:txBody>
          <a:bodyPr>
            <a:normAutofit/>
          </a:bodyPr>
          <a:lstStyle/>
          <a:p>
            <a:r>
              <a:rPr lang="x-none" b="1" dirty="0">
                <a:latin typeface="Arial" panose="020B0604020202020204" pitchFamily="34" charset="0"/>
                <a:cs typeface="Arial" panose="020B0604020202020204" pitchFamily="34" charset="0"/>
              </a:rPr>
              <a:t>Công nghệ sử dụng</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collect_faces.py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bước</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Nhập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tin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(ID, </a:t>
            </a:r>
            <a:r>
              <a:rPr lang="en-US" dirty="0" err="1">
                <a:latin typeface="Arial" panose="020B0604020202020204" pitchFamily="34" charset="0"/>
                <a:cs typeface="Arial" panose="020B0604020202020204" pitchFamily="34" charset="0"/>
              </a:rPr>
              <a:t>tên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lưu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webcam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đổi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sang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xám</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bằng</a:t>
            </a:r>
            <a:r>
              <a:rPr lang="en-US" dirty="0">
                <a:latin typeface="Arial" panose="020B0604020202020204" pitchFamily="34" charset="0"/>
                <a:cs typeface="Arial" panose="020B0604020202020204" pitchFamily="34" charset="0"/>
              </a:rPr>
              <a:t> Haar Cascade.</a:t>
            </a:r>
          </a:p>
          <a:p>
            <a:r>
              <a:rPr lang="en-US" dirty="0" err="1">
                <a:latin typeface="Arial" panose="020B0604020202020204" pitchFamily="34" charset="0"/>
                <a:cs typeface="Arial" panose="020B0604020202020204" pitchFamily="34" charset="0"/>
              </a:rPr>
              <a:t>Cắt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vùng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chuẩn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hóa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thước</a:t>
            </a:r>
            <a:r>
              <a:rPr lang="en-US" dirty="0">
                <a:latin typeface="Arial" panose="020B0604020202020204" pitchFamily="34" charset="0"/>
                <a:cs typeface="Arial" panose="020B0604020202020204" pitchFamily="34" charset="0"/>
              </a:rPr>
              <a:t> (200×200 pixel).</a:t>
            </a:r>
          </a:p>
          <a:p>
            <a:r>
              <a:rPr lang="en-US" dirty="0">
                <a:latin typeface="Arial" panose="020B0604020202020204" pitchFamily="34" charset="0"/>
                <a:cs typeface="Arial" panose="020B0604020202020204" pitchFamily="34" charset="0"/>
              </a:rPr>
              <a:t>Lưu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mục</a:t>
            </a:r>
            <a:r>
              <a:rPr lang="en-US" dirty="0">
                <a:latin typeface="Arial" panose="020B0604020202020204" pitchFamily="34" charset="0"/>
                <a:cs typeface="Arial" panose="020B0604020202020204" pitchFamily="34" charset="0"/>
              </a:rPr>
              <a:t> dataset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dạng</a:t>
            </a:r>
            <a:r>
              <a:rPr lang="en-US" dirty="0">
                <a:latin typeface="Arial" panose="020B0604020202020204" pitchFamily="34" charset="0"/>
                <a:cs typeface="Arial" panose="020B0604020202020204" pitchFamily="34" charset="0"/>
              </a:rPr>
              <a:t> User.&lt;ID&gt;.&lt;STT&gt;.jpg.</a:t>
            </a:r>
          </a:p>
          <a:p>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chuẩn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hóa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thước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giúp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đảm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bảo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đồng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giữa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huấn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luyện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310567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7D73C-DDAC-01D6-0ECC-5057247B2CC5}"/>
              </a:ext>
            </a:extLst>
          </p:cNvPr>
          <p:cNvSpPr>
            <a:spLocks noGrp="1"/>
          </p:cNvSpPr>
          <p:nvPr>
            <p:ph type="title"/>
          </p:nvPr>
        </p:nvSpPr>
        <p:spPr>
          <a:xfrm>
            <a:off x="1097280" y="286603"/>
            <a:ext cx="10058400" cy="1450757"/>
          </a:xfrm>
        </p:spPr>
        <p:txBody>
          <a:bodyPr>
            <a:normAutofit/>
          </a:bodyPr>
          <a:lstStyle/>
          <a:p>
            <a:r>
              <a:rPr lang="x-none" b="1">
                <a:latin typeface="Arial" panose="020B0604020202020204" pitchFamily="34" charset="0"/>
                <a:cs typeface="Arial" panose="020B0604020202020204" pitchFamily="34" charset="0"/>
              </a:rPr>
              <a:t>Thu thập dữ liệu khuôn mặt</a:t>
            </a:r>
            <a:endParaRPr lang="en-US"/>
          </a:p>
        </p:txBody>
      </p:sp>
      <p:sp>
        <p:nvSpPr>
          <p:cNvPr id="5" name="Content Placeholder 4">
            <a:extLst>
              <a:ext uri="{FF2B5EF4-FFF2-40B4-BE49-F238E27FC236}">
                <a16:creationId xmlns:a16="http://schemas.microsoft.com/office/drawing/2014/main" id="{FB3CC6B1-987D-4BAC-D154-890E6E65ADEB}"/>
              </a:ext>
            </a:extLst>
          </p:cNvPr>
          <p:cNvSpPr>
            <a:spLocks noGrp="1"/>
          </p:cNvSpPr>
          <p:nvPr>
            <p:ph idx="1"/>
          </p:nvPr>
        </p:nvSpPr>
        <p:spPr>
          <a:xfrm>
            <a:off x="1097279" y="1845734"/>
            <a:ext cx="6454987" cy="4023360"/>
          </a:xfrm>
        </p:spPr>
        <p:txBody>
          <a:bodyPr>
            <a:normAutofit/>
          </a:bodyPr>
          <a:lstStyle/>
          <a:p>
            <a:r>
              <a:rPr lang="en-US" sz="1700" b="1">
                <a:latin typeface="Arial" panose="020B0604020202020204" pitchFamily="34" charset="0"/>
                <a:cs typeface="Arial" panose="020B0604020202020204" pitchFamily="34" charset="0"/>
              </a:rPr>
              <a:t>Nguyên </a:t>
            </a:r>
            <a:r>
              <a:rPr lang="en-US" sz="1700" b="1" err="1">
                <a:latin typeface="Arial" panose="020B0604020202020204" pitchFamily="34" charset="0"/>
                <a:cs typeface="Arial" panose="020B0604020202020204" pitchFamily="34" charset="0"/>
              </a:rPr>
              <a:t>lý</a:t>
            </a:r>
            <a:r>
              <a:rPr lang="en-US" sz="1700" b="1">
                <a:latin typeface="Arial" panose="020B0604020202020204" pitchFamily="34" charset="0"/>
                <a:cs typeface="Arial" panose="020B0604020202020204" pitchFamily="34" charset="0"/>
              </a:rPr>
              <a:t> </a:t>
            </a:r>
            <a:r>
              <a:rPr lang="en-US" sz="1700" b="1" err="1">
                <a:latin typeface="Arial" panose="020B0604020202020204" pitchFamily="34" charset="0"/>
                <a:cs typeface="Arial" panose="020B0604020202020204" pitchFamily="34" charset="0"/>
              </a:rPr>
              <a:t>hoạt</a:t>
            </a:r>
            <a:r>
              <a:rPr lang="en-US" sz="1700" b="1">
                <a:latin typeface="Arial" panose="020B0604020202020204" pitchFamily="34" charset="0"/>
                <a:cs typeface="Arial" panose="020B0604020202020204" pitchFamily="34" charset="0"/>
              </a:rPr>
              <a:t> </a:t>
            </a:r>
            <a:r>
              <a:rPr lang="en-US" sz="1700" b="1" err="1">
                <a:latin typeface="Arial" panose="020B0604020202020204" pitchFamily="34" charset="0"/>
                <a:cs typeface="Arial" panose="020B0604020202020204" pitchFamily="34" charset="0"/>
              </a:rPr>
              <a:t>động</a:t>
            </a:r>
            <a:endParaRPr lang="en-US" sz="1700" b="1">
              <a:latin typeface="Arial" panose="020B0604020202020204" pitchFamily="34" charset="0"/>
              <a:cs typeface="Arial" panose="020B0604020202020204" pitchFamily="34" charset="0"/>
            </a:endParaRPr>
          </a:p>
          <a:p>
            <a:r>
              <a:rPr lang="en-US" sz="1700" err="1">
                <a:latin typeface="Arial" panose="020B0604020202020204" pitchFamily="34" charset="0"/>
                <a:cs typeface="Arial" panose="020B0604020202020204" pitchFamily="34" charset="0"/>
              </a:rPr>
              <a:t>Chương</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trình</a:t>
            </a:r>
            <a:r>
              <a:rPr lang="en-US" sz="1700">
                <a:latin typeface="Arial" panose="020B0604020202020204" pitchFamily="34" charset="0"/>
                <a:cs typeface="Arial" panose="020B0604020202020204" pitchFamily="34" charset="0"/>
              </a:rPr>
              <a:t> collect_faces.py </a:t>
            </a:r>
            <a:r>
              <a:rPr lang="en-US" sz="1700" err="1">
                <a:latin typeface="Arial" panose="020B0604020202020204" pitchFamily="34" charset="0"/>
                <a:cs typeface="Arial" panose="020B0604020202020204" pitchFamily="34" charset="0"/>
              </a:rPr>
              <a:t>thực</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hiện</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các</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bước</a:t>
            </a:r>
            <a:r>
              <a:rPr lang="en-US" sz="1700">
                <a:latin typeface="Arial" panose="020B0604020202020204" pitchFamily="34" charset="0"/>
                <a:cs typeface="Arial" panose="020B0604020202020204" pitchFamily="34" charset="0"/>
              </a:rPr>
              <a:t>:</a:t>
            </a:r>
          </a:p>
          <a:p>
            <a:r>
              <a:rPr lang="en-US" sz="1700" err="1">
                <a:latin typeface="Arial" panose="020B0604020202020204" pitchFamily="34" charset="0"/>
                <a:cs typeface="Arial" panose="020B0604020202020204" pitchFamily="34" charset="0"/>
              </a:rPr>
              <a:t>Nhập</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thông</a:t>
            </a:r>
            <a:r>
              <a:rPr lang="en-US" sz="1700">
                <a:latin typeface="Arial" panose="020B0604020202020204" pitchFamily="34" charset="0"/>
                <a:cs typeface="Arial" panose="020B0604020202020204" pitchFamily="34" charset="0"/>
              </a:rPr>
              <a:t> tin </a:t>
            </a:r>
            <a:r>
              <a:rPr lang="en-US" sz="1700" err="1">
                <a:latin typeface="Arial" panose="020B0604020202020204" pitchFamily="34" charset="0"/>
                <a:cs typeface="Arial" panose="020B0604020202020204" pitchFamily="34" charset="0"/>
              </a:rPr>
              <a:t>người</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dùng</a:t>
            </a:r>
            <a:r>
              <a:rPr lang="en-US" sz="1700">
                <a:latin typeface="Arial" panose="020B0604020202020204" pitchFamily="34" charset="0"/>
                <a:cs typeface="Arial" panose="020B0604020202020204" pitchFamily="34" charset="0"/>
              </a:rPr>
              <a:t> (ID, </a:t>
            </a:r>
            <a:r>
              <a:rPr lang="en-US" sz="1700" err="1">
                <a:latin typeface="Arial" panose="020B0604020202020204" pitchFamily="34" charset="0"/>
                <a:cs typeface="Arial" panose="020B0604020202020204" pitchFamily="34" charset="0"/>
              </a:rPr>
              <a:t>tên</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và</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lưu</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vào</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cơ</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sở</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dữ</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liệu</a:t>
            </a:r>
            <a:r>
              <a:rPr lang="en-US" sz="1700">
                <a:latin typeface="Arial" panose="020B0604020202020204" pitchFamily="34" charset="0"/>
                <a:cs typeface="Arial" panose="020B0604020202020204" pitchFamily="34" charset="0"/>
              </a:rPr>
              <a:t>.</a:t>
            </a:r>
          </a:p>
          <a:p>
            <a:r>
              <a:rPr lang="en-US" sz="1700" err="1">
                <a:latin typeface="Arial" panose="020B0604020202020204" pitchFamily="34" charset="0"/>
                <a:cs typeface="Arial" panose="020B0604020202020204" pitchFamily="34" charset="0"/>
              </a:rPr>
              <a:t>Mở</a:t>
            </a:r>
            <a:r>
              <a:rPr lang="en-US" sz="1700">
                <a:latin typeface="Arial" panose="020B0604020202020204" pitchFamily="34" charset="0"/>
                <a:cs typeface="Arial" panose="020B0604020202020204" pitchFamily="34" charset="0"/>
              </a:rPr>
              <a:t> webcam </a:t>
            </a:r>
            <a:r>
              <a:rPr lang="en-US" sz="1700" err="1">
                <a:latin typeface="Arial" panose="020B0604020202020204" pitchFamily="34" charset="0"/>
                <a:cs typeface="Arial" panose="020B0604020202020204" pitchFamily="34" charset="0"/>
              </a:rPr>
              <a:t>và</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chuyển</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đổi</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khung</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hình</a:t>
            </a:r>
            <a:r>
              <a:rPr lang="en-US" sz="1700">
                <a:latin typeface="Arial" panose="020B0604020202020204" pitchFamily="34" charset="0"/>
                <a:cs typeface="Arial" panose="020B0604020202020204" pitchFamily="34" charset="0"/>
              </a:rPr>
              <a:t> sang </a:t>
            </a:r>
            <a:r>
              <a:rPr lang="en-US" sz="1700" err="1">
                <a:latin typeface="Arial" panose="020B0604020202020204" pitchFamily="34" charset="0"/>
                <a:cs typeface="Arial" panose="020B0604020202020204" pitchFamily="34" charset="0"/>
              </a:rPr>
              <a:t>ảnh</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xám</a:t>
            </a:r>
            <a:r>
              <a:rPr lang="en-US" sz="1700">
                <a:latin typeface="Arial" panose="020B0604020202020204" pitchFamily="34" charset="0"/>
                <a:cs typeface="Arial" panose="020B0604020202020204" pitchFamily="34" charset="0"/>
              </a:rPr>
              <a:t>.</a:t>
            </a:r>
          </a:p>
          <a:p>
            <a:r>
              <a:rPr lang="en-US" sz="1700" err="1">
                <a:latin typeface="Arial" panose="020B0604020202020204" pitchFamily="34" charset="0"/>
                <a:cs typeface="Arial" panose="020B0604020202020204" pitchFamily="34" charset="0"/>
              </a:rPr>
              <a:t>Phát</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hiện</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khuôn</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mặt</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bằng</a:t>
            </a:r>
            <a:r>
              <a:rPr lang="en-US" sz="1700">
                <a:latin typeface="Arial" panose="020B0604020202020204" pitchFamily="34" charset="0"/>
                <a:cs typeface="Arial" panose="020B0604020202020204" pitchFamily="34" charset="0"/>
              </a:rPr>
              <a:t> Haar Cascade.</a:t>
            </a:r>
          </a:p>
          <a:p>
            <a:r>
              <a:rPr lang="en-US" sz="1700" err="1">
                <a:latin typeface="Arial" panose="020B0604020202020204" pitchFamily="34" charset="0"/>
                <a:cs typeface="Arial" panose="020B0604020202020204" pitchFamily="34" charset="0"/>
              </a:rPr>
              <a:t>Cắt</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vùng</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khuôn</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mặt</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chuẩn</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hóa</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kích</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thước</a:t>
            </a:r>
            <a:r>
              <a:rPr lang="en-US" sz="1700">
                <a:latin typeface="Arial" panose="020B0604020202020204" pitchFamily="34" charset="0"/>
                <a:cs typeface="Arial" panose="020B0604020202020204" pitchFamily="34" charset="0"/>
              </a:rPr>
              <a:t> (200×200 pixel).</a:t>
            </a:r>
          </a:p>
          <a:p>
            <a:r>
              <a:rPr lang="en-US" sz="1700">
                <a:latin typeface="Arial" panose="020B0604020202020204" pitchFamily="34" charset="0"/>
                <a:cs typeface="Arial" panose="020B0604020202020204" pitchFamily="34" charset="0"/>
              </a:rPr>
              <a:t>Lưu </a:t>
            </a:r>
            <a:r>
              <a:rPr lang="en-US" sz="1700" err="1">
                <a:latin typeface="Arial" panose="020B0604020202020204" pitchFamily="34" charset="0"/>
                <a:cs typeface="Arial" panose="020B0604020202020204" pitchFamily="34" charset="0"/>
              </a:rPr>
              <a:t>ảnh</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vào</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thư</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mục</a:t>
            </a:r>
            <a:r>
              <a:rPr lang="en-US" sz="1700">
                <a:latin typeface="Arial" panose="020B0604020202020204" pitchFamily="34" charset="0"/>
                <a:cs typeface="Arial" panose="020B0604020202020204" pitchFamily="34" charset="0"/>
              </a:rPr>
              <a:t> dataset </a:t>
            </a:r>
            <a:r>
              <a:rPr lang="en-US" sz="1700" err="1">
                <a:latin typeface="Arial" panose="020B0604020202020204" pitchFamily="34" charset="0"/>
                <a:cs typeface="Arial" panose="020B0604020202020204" pitchFamily="34" charset="0"/>
              </a:rPr>
              <a:t>theo</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định</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dạng</a:t>
            </a:r>
            <a:r>
              <a:rPr lang="en-US" sz="1700">
                <a:latin typeface="Arial" panose="020B0604020202020204" pitchFamily="34" charset="0"/>
                <a:cs typeface="Arial" panose="020B0604020202020204" pitchFamily="34" charset="0"/>
              </a:rPr>
              <a:t> User.&lt;ID&gt;.&lt;STT&gt;.jpg.</a:t>
            </a:r>
          </a:p>
          <a:p>
            <a:r>
              <a:rPr lang="en-US" sz="1700" err="1">
                <a:latin typeface="Arial" panose="020B0604020202020204" pitchFamily="34" charset="0"/>
                <a:cs typeface="Arial" panose="020B0604020202020204" pitchFamily="34" charset="0"/>
              </a:rPr>
              <a:t>Việc</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chuẩn</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hóa</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kích</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thước</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ảnh</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giúp</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đảm</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bảo</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tính</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đồng</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nhất</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giữa</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dữ</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liệu</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huấn</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luyện</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và</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dữ</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liệu</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nhận</a:t>
            </a:r>
            <a:r>
              <a:rPr lang="en-US" sz="1700">
                <a:latin typeface="Arial" panose="020B0604020202020204" pitchFamily="34" charset="0"/>
                <a:cs typeface="Arial" panose="020B0604020202020204" pitchFamily="34" charset="0"/>
              </a:rPr>
              <a:t> </a:t>
            </a:r>
            <a:r>
              <a:rPr lang="en-US" sz="1700" err="1">
                <a:latin typeface="Arial" panose="020B0604020202020204" pitchFamily="34" charset="0"/>
                <a:cs typeface="Arial" panose="020B0604020202020204" pitchFamily="34" charset="0"/>
              </a:rPr>
              <a:t>diện</a:t>
            </a:r>
            <a:r>
              <a:rPr lang="en-US" sz="1700">
                <a:latin typeface="Arial" panose="020B0604020202020204" pitchFamily="34" charset="0"/>
                <a:cs typeface="Arial" panose="020B0604020202020204" pitchFamily="34" charset="0"/>
              </a:rPr>
              <a:t>.</a:t>
            </a:r>
          </a:p>
        </p:txBody>
      </p:sp>
      <p:pic>
        <p:nvPicPr>
          <p:cNvPr id="7" name="Picture 6">
            <a:extLst>
              <a:ext uri="{FF2B5EF4-FFF2-40B4-BE49-F238E27FC236}">
                <a16:creationId xmlns:a16="http://schemas.microsoft.com/office/drawing/2014/main" id="{93F99197-6E7A-794A-B7A2-00030D8C8BCA}"/>
              </a:ext>
            </a:extLst>
          </p:cNvPr>
          <p:cNvPicPr>
            <a:picLocks noChangeAspect="1"/>
          </p:cNvPicPr>
          <p:nvPr/>
        </p:nvPicPr>
        <p:blipFill>
          <a:blip r:embed="rId2">
            <a:extLst>
              <a:ext uri="{28A0092B-C50C-407E-A947-70E740481C1C}">
                <a14:useLocalDpi xmlns:a14="http://schemas.microsoft.com/office/drawing/2010/main" val="0"/>
              </a:ext>
            </a:extLst>
          </a:blip>
          <a:srcRect l="12161" r="1" b="1"/>
          <a:stretch>
            <a:fillRect/>
          </a:stretch>
        </p:blipFill>
        <p:spPr>
          <a:xfrm>
            <a:off x="8020570" y="1916318"/>
            <a:ext cx="3135109" cy="3471012"/>
          </a:xfrm>
          <a:prstGeom prst="rect">
            <a:avLst/>
          </a:prstGeom>
        </p:spPr>
      </p:pic>
    </p:spTree>
    <p:extLst>
      <p:ext uri="{BB962C8B-B14F-4D97-AF65-F5344CB8AC3E}">
        <p14:creationId xmlns:p14="http://schemas.microsoft.com/office/powerpoint/2010/main" val="3698510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DB20-3C23-1B3C-6020-96F2CDED66CE}"/>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Huấn luyện mô hình nhận diện khuôn mặt</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B6D74B9-95D0-CE16-6ABA-B532F112F536}"/>
              </a:ext>
            </a:extLst>
          </p:cNvPr>
          <p:cNvSpPr>
            <a:spLocks noGrp="1"/>
          </p:cNvSpPr>
          <p:nvPr>
            <p:ph idx="1"/>
          </p:nvPr>
        </p:nvSpPr>
        <p:spPr/>
        <p:txBody>
          <a:bodyPr/>
          <a:lstStyle/>
          <a:p>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a:t>
            </a:r>
            <a:r>
              <a:rPr lang="en-US" b="1" dirty="0"/>
              <a:t>Python</a:t>
            </a:r>
            <a:endParaRPr lang="en-US" dirty="0"/>
          </a:p>
          <a:p>
            <a:r>
              <a:rPr lang="en-US" dirty="0"/>
              <a:t>Thư </a:t>
            </a:r>
            <a:r>
              <a:rPr lang="en-US" dirty="0" err="1"/>
              <a:t>viện</a:t>
            </a:r>
            <a:r>
              <a:rPr lang="en-US" dirty="0"/>
              <a:t> </a:t>
            </a:r>
            <a:r>
              <a:rPr lang="en-US" dirty="0" err="1"/>
              <a:t>xử</a:t>
            </a:r>
            <a:r>
              <a:rPr lang="en-US" dirty="0"/>
              <a:t> </a:t>
            </a:r>
            <a:r>
              <a:rPr lang="en-US" dirty="0" err="1"/>
              <a:t>lý</a:t>
            </a:r>
            <a:r>
              <a:rPr lang="en-US" dirty="0"/>
              <a:t> </a:t>
            </a:r>
            <a:r>
              <a:rPr lang="en-US" dirty="0" err="1"/>
              <a:t>ảnh</a:t>
            </a:r>
            <a:r>
              <a:rPr lang="en-US" dirty="0"/>
              <a:t>: </a:t>
            </a:r>
            <a:r>
              <a:rPr lang="en-US" b="1" dirty="0"/>
              <a:t>OpenCV</a:t>
            </a:r>
            <a:endParaRPr lang="en-US" dirty="0"/>
          </a:p>
          <a:p>
            <a:r>
              <a:rPr lang="en-US" dirty="0"/>
              <a:t>Công </a:t>
            </a:r>
            <a:r>
              <a:rPr lang="en-US" dirty="0" err="1"/>
              <a:t>cụ</a:t>
            </a:r>
            <a:r>
              <a:rPr lang="en-US" dirty="0"/>
              <a:t> </a:t>
            </a:r>
            <a:r>
              <a:rPr lang="en-US" dirty="0" err="1"/>
              <a:t>hỗ</a:t>
            </a:r>
            <a:r>
              <a:rPr lang="en-US" dirty="0"/>
              <a:t> </a:t>
            </a:r>
            <a:r>
              <a:rPr lang="en-US" dirty="0" err="1"/>
              <a:t>trợ</a:t>
            </a:r>
            <a:r>
              <a:rPr lang="en-US" dirty="0"/>
              <a:t> </a:t>
            </a:r>
            <a:r>
              <a:rPr lang="en-US" dirty="0" err="1"/>
              <a:t>lập</a:t>
            </a:r>
            <a:r>
              <a:rPr lang="en-US" dirty="0"/>
              <a:t> </a:t>
            </a:r>
            <a:r>
              <a:rPr lang="en-US" dirty="0" err="1"/>
              <a:t>trình</a:t>
            </a:r>
            <a:r>
              <a:rPr lang="en-US" dirty="0"/>
              <a:t>: Visual Studio Code</a:t>
            </a:r>
          </a:p>
          <a:p>
            <a:r>
              <a:rPr lang="en-US" dirty="0" err="1"/>
              <a:t>Hệ</a:t>
            </a:r>
            <a:r>
              <a:rPr lang="en-US" dirty="0"/>
              <a:t> </a:t>
            </a:r>
            <a:r>
              <a:rPr lang="en-US" dirty="0" err="1"/>
              <a:t>điều</a:t>
            </a:r>
            <a:r>
              <a:rPr lang="en-US" dirty="0"/>
              <a:t> </a:t>
            </a:r>
            <a:r>
              <a:rPr lang="en-US" dirty="0" err="1"/>
              <a:t>hành</a:t>
            </a:r>
            <a:r>
              <a:rPr lang="en-US" dirty="0"/>
              <a:t>: Windows</a:t>
            </a:r>
          </a:p>
          <a:p>
            <a:endParaRPr lang="en-US" dirty="0"/>
          </a:p>
        </p:txBody>
      </p:sp>
    </p:spTree>
    <p:extLst>
      <p:ext uri="{BB962C8B-B14F-4D97-AF65-F5344CB8AC3E}">
        <p14:creationId xmlns:p14="http://schemas.microsoft.com/office/powerpoint/2010/main" val="2083668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61B1E-8D9D-C14B-E30E-FE78658F08CD}"/>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Huấn luyện mô hình nhận diện khuôn mặt</a:t>
            </a:r>
            <a:endParaRPr lang="en-US" sz="3600" dirty="0"/>
          </a:p>
        </p:txBody>
      </p:sp>
      <p:sp>
        <p:nvSpPr>
          <p:cNvPr id="3" name="Content Placeholder 2">
            <a:extLst>
              <a:ext uri="{FF2B5EF4-FFF2-40B4-BE49-F238E27FC236}">
                <a16:creationId xmlns:a16="http://schemas.microsoft.com/office/drawing/2014/main" id="{ACDE3173-2BF0-3572-1737-191C69EEB7B5}"/>
              </a:ext>
            </a:extLst>
          </p:cNvPr>
          <p:cNvSpPr>
            <a:spLocks noGrp="1"/>
          </p:cNvSpPr>
          <p:nvPr>
            <p:ph idx="1"/>
          </p:nvPr>
        </p:nvSpPr>
        <p:spPr/>
        <p:txBody>
          <a:bodyPr/>
          <a:lstStyle/>
          <a:p>
            <a:r>
              <a:rPr lang="en-US" b="1" dirty="0" err="1">
                <a:latin typeface="Arial" panose="020B0604020202020204" pitchFamily="34" charset="0"/>
                <a:cs typeface="Arial" panose="020B0604020202020204" pitchFamily="34" charset="0"/>
              </a:rPr>
              <a:t>Mục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đích</a:t>
            </a:r>
            <a:endParaRPr lang="en-US" b="1" dirty="0">
              <a:latin typeface="Arial" panose="020B0604020202020204" pitchFamily="34" charset="0"/>
              <a:cs typeface="Arial" panose="020B0604020202020204" pitchFamily="34" charset="0"/>
            </a:endParaRPr>
          </a:p>
          <a:p>
            <a:r>
              <a:rPr lang="en-US" dirty="0" err="1"/>
              <a:t>Huấn</a:t>
            </a:r>
            <a:r>
              <a:rPr lang="en-US" dirty="0"/>
              <a:t> </a:t>
            </a:r>
            <a:r>
              <a:rPr lang="en-US" dirty="0" err="1"/>
              <a:t>luyện</a:t>
            </a:r>
            <a:r>
              <a:rPr lang="en-US" dirty="0"/>
              <a:t> </a:t>
            </a:r>
            <a:r>
              <a:rPr lang="en-US" dirty="0" err="1"/>
              <a:t>mô</a:t>
            </a:r>
            <a:r>
              <a:rPr lang="en-US" dirty="0"/>
              <a:t> </a:t>
            </a:r>
            <a:r>
              <a:rPr lang="en-US" dirty="0" err="1"/>
              <a:t>hình</a:t>
            </a:r>
            <a:r>
              <a:rPr lang="en-US" dirty="0"/>
              <a:t> </a:t>
            </a:r>
            <a:r>
              <a:rPr lang="en-US" dirty="0" err="1"/>
              <a:t>nhận</a:t>
            </a:r>
            <a:r>
              <a:rPr lang="en-US" dirty="0"/>
              <a:t> </a:t>
            </a:r>
            <a:r>
              <a:rPr lang="en-US" dirty="0" err="1"/>
              <a:t>diện</a:t>
            </a:r>
            <a:r>
              <a:rPr lang="en-US" dirty="0"/>
              <a:t> </a:t>
            </a:r>
            <a:r>
              <a:rPr lang="en-US" dirty="0" err="1"/>
              <a:t>nhằm</a:t>
            </a:r>
            <a:r>
              <a:rPr lang="en-US" dirty="0"/>
              <a:t> </a:t>
            </a:r>
            <a:r>
              <a:rPr lang="en-US" dirty="0" err="1"/>
              <a:t>tạo</a:t>
            </a:r>
            <a:r>
              <a:rPr lang="en-US" dirty="0"/>
              <a:t> </a:t>
            </a:r>
            <a:r>
              <a:rPr lang="en-US" dirty="0" err="1"/>
              <a:t>ra</a:t>
            </a:r>
            <a:r>
              <a:rPr lang="en-US" dirty="0"/>
              <a:t> </a:t>
            </a:r>
            <a:r>
              <a:rPr lang="en-US" dirty="0" err="1"/>
              <a:t>bộ</a:t>
            </a:r>
            <a:r>
              <a:rPr lang="en-US" dirty="0"/>
              <a:t> </a:t>
            </a:r>
            <a:r>
              <a:rPr lang="en-US" dirty="0" err="1"/>
              <a:t>phân</a:t>
            </a:r>
            <a:r>
              <a:rPr lang="en-US" dirty="0"/>
              <a:t> </a:t>
            </a:r>
            <a:r>
              <a:rPr lang="en-US" dirty="0" err="1"/>
              <a:t>loại</a:t>
            </a:r>
            <a:r>
              <a:rPr lang="en-US" dirty="0"/>
              <a:t> </a:t>
            </a:r>
            <a:r>
              <a:rPr lang="en-US" dirty="0" err="1"/>
              <a:t>có</a:t>
            </a:r>
            <a:r>
              <a:rPr lang="en-US" dirty="0"/>
              <a:t> </a:t>
            </a:r>
            <a:r>
              <a:rPr lang="en-US" dirty="0" err="1"/>
              <a:t>khả</a:t>
            </a:r>
            <a:r>
              <a:rPr lang="en-US" dirty="0"/>
              <a:t> </a:t>
            </a:r>
            <a:r>
              <a:rPr lang="en-US" dirty="0" err="1"/>
              <a:t>năng</a:t>
            </a:r>
            <a:r>
              <a:rPr lang="en-US" dirty="0"/>
              <a:t> </a:t>
            </a:r>
            <a:r>
              <a:rPr lang="en-US" dirty="0" err="1"/>
              <a:t>nhận</a:t>
            </a:r>
            <a:r>
              <a:rPr lang="en-US" dirty="0"/>
              <a:t> </a:t>
            </a:r>
            <a:r>
              <a:rPr lang="en-US" dirty="0" err="1"/>
              <a:t>biết</a:t>
            </a:r>
            <a:r>
              <a:rPr lang="en-US" dirty="0"/>
              <a:t> </a:t>
            </a:r>
            <a:r>
              <a:rPr lang="en-US" dirty="0" err="1"/>
              <a:t>danh</a:t>
            </a:r>
            <a:r>
              <a:rPr lang="en-US" dirty="0"/>
              <a:t> </a:t>
            </a:r>
            <a:r>
              <a:rPr lang="en-US" dirty="0" err="1"/>
              <a:t>tính</a:t>
            </a:r>
            <a:r>
              <a:rPr lang="en-US" dirty="0"/>
              <a:t> </a:t>
            </a:r>
            <a:r>
              <a:rPr lang="en-US" dirty="0" err="1"/>
              <a:t>người</a:t>
            </a:r>
            <a:r>
              <a:rPr lang="en-US" dirty="0"/>
              <a:t> </a:t>
            </a:r>
            <a:r>
              <a:rPr lang="en-US" dirty="0" err="1"/>
              <a:t>dùng</a:t>
            </a:r>
            <a:r>
              <a:rPr lang="en-US" dirty="0"/>
              <a:t> </a:t>
            </a:r>
            <a:r>
              <a:rPr lang="en-US" dirty="0" err="1"/>
              <a:t>dựa</a:t>
            </a:r>
            <a:r>
              <a:rPr lang="en-US" dirty="0"/>
              <a:t> </a:t>
            </a:r>
            <a:r>
              <a:rPr lang="en-US" dirty="0" err="1"/>
              <a:t>trên</a:t>
            </a:r>
            <a:r>
              <a:rPr lang="en-US" dirty="0"/>
              <a:t> </a:t>
            </a:r>
            <a:r>
              <a:rPr lang="en-US" dirty="0" err="1"/>
              <a:t>ảnh</a:t>
            </a:r>
            <a:r>
              <a:rPr lang="en-US" dirty="0"/>
              <a:t> </a:t>
            </a:r>
            <a:r>
              <a:rPr lang="en-US" dirty="0" err="1"/>
              <a:t>khuôn</a:t>
            </a:r>
            <a:r>
              <a:rPr lang="en-US" dirty="0"/>
              <a:t> </a:t>
            </a:r>
            <a:r>
              <a:rPr lang="en-US" dirty="0" err="1"/>
              <a:t>mặt</a:t>
            </a:r>
            <a:r>
              <a:rPr lang="en-US" dirty="0"/>
              <a:t> </a:t>
            </a:r>
            <a:r>
              <a:rPr lang="en-US" dirty="0" err="1"/>
              <a:t>đã</a:t>
            </a:r>
            <a:r>
              <a:rPr lang="en-US" dirty="0"/>
              <a:t> </a:t>
            </a:r>
            <a:r>
              <a:rPr lang="en-US" dirty="0" err="1"/>
              <a:t>thu</a:t>
            </a:r>
            <a:r>
              <a:rPr lang="en-US" dirty="0"/>
              <a:t> </a:t>
            </a:r>
            <a:r>
              <a:rPr lang="en-US" dirty="0" err="1"/>
              <a:t>thập</a:t>
            </a:r>
            <a:r>
              <a:rPr lang="en-US" dirty="0"/>
              <a:t>.</a:t>
            </a:r>
          </a:p>
          <a:p>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9343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08EAC-4C96-5ED8-DA64-29BFC152C7AE}"/>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Huấn luyện mô hình nhận diện khuôn mặt</a:t>
            </a:r>
            <a:endParaRPr lang="en-US" sz="3600" dirty="0"/>
          </a:p>
        </p:txBody>
      </p:sp>
      <p:sp>
        <p:nvSpPr>
          <p:cNvPr id="3" name="Content Placeholder 2">
            <a:extLst>
              <a:ext uri="{FF2B5EF4-FFF2-40B4-BE49-F238E27FC236}">
                <a16:creationId xmlns:a16="http://schemas.microsoft.com/office/drawing/2014/main" id="{BB8F9CE6-F56F-F76E-C136-D0F16B4A9558}"/>
              </a:ext>
            </a:extLst>
          </p:cNvPr>
          <p:cNvSpPr>
            <a:spLocks noGrp="1"/>
          </p:cNvSpPr>
          <p:nvPr>
            <p:ph idx="1"/>
          </p:nvPr>
        </p:nvSpPr>
        <p:spPr/>
        <p:txBody>
          <a:bodyPr/>
          <a:lstStyle/>
          <a:p>
            <a:r>
              <a:rPr lang="x-none" b="1" dirty="0">
                <a:latin typeface="Arial" panose="020B0604020202020204" pitchFamily="34" charset="0"/>
                <a:cs typeface="Arial" panose="020B0604020202020204" pitchFamily="34" charset="0"/>
              </a:rPr>
              <a:t>Thuật toán LBPH</a:t>
            </a:r>
            <a:endParaRPr lang="en-US" b="1" dirty="0">
              <a:latin typeface="Arial" panose="020B0604020202020204" pitchFamily="34" charset="0"/>
              <a:cs typeface="Arial" panose="020B0604020202020204" pitchFamily="34" charset="0"/>
            </a:endParaRPr>
          </a:p>
          <a:p>
            <a:r>
              <a:rPr lang="en-US" dirty="0" err="1"/>
              <a:t>Hệ</a:t>
            </a:r>
            <a:r>
              <a:rPr lang="en-US" dirty="0"/>
              <a:t> </a:t>
            </a:r>
            <a:r>
              <a:rPr lang="en-US" dirty="0" err="1"/>
              <a:t>thống</a:t>
            </a:r>
            <a:r>
              <a:rPr lang="en-US" dirty="0"/>
              <a:t> </a:t>
            </a:r>
            <a:r>
              <a:rPr lang="en-US" dirty="0" err="1"/>
              <a:t>sử</a:t>
            </a:r>
            <a:r>
              <a:rPr lang="en-US" dirty="0"/>
              <a:t> </a:t>
            </a:r>
            <a:r>
              <a:rPr lang="en-US" dirty="0" err="1"/>
              <a:t>dụng</a:t>
            </a:r>
            <a:r>
              <a:rPr lang="en-US" dirty="0"/>
              <a:t> </a:t>
            </a:r>
            <a:r>
              <a:rPr lang="en-US" dirty="0" err="1"/>
              <a:t>thuật</a:t>
            </a:r>
            <a:r>
              <a:rPr lang="en-US" dirty="0"/>
              <a:t> </a:t>
            </a:r>
            <a:r>
              <a:rPr lang="en-US" dirty="0" err="1"/>
              <a:t>toán</a:t>
            </a:r>
            <a:r>
              <a:rPr lang="en-US" dirty="0"/>
              <a:t> LBPH (Local Binary Patterns Histogram) </a:t>
            </a:r>
            <a:r>
              <a:rPr lang="en-US" dirty="0" err="1"/>
              <a:t>với</a:t>
            </a:r>
            <a:r>
              <a:rPr lang="en-US" dirty="0"/>
              <a:t> </a:t>
            </a:r>
            <a:r>
              <a:rPr lang="en-US" dirty="0" err="1"/>
              <a:t>các</a:t>
            </a:r>
            <a:r>
              <a:rPr lang="en-US" dirty="0"/>
              <a:t> </a:t>
            </a:r>
            <a:r>
              <a:rPr lang="en-US" dirty="0" err="1"/>
              <a:t>ưu</a:t>
            </a:r>
            <a:r>
              <a:rPr lang="en-US" dirty="0"/>
              <a:t> </a:t>
            </a:r>
            <a:r>
              <a:rPr lang="en-US" dirty="0" err="1"/>
              <a:t>điểm</a:t>
            </a:r>
            <a:r>
              <a:rPr lang="en-US" dirty="0"/>
              <a:t>:</a:t>
            </a:r>
          </a:p>
          <a:p>
            <a:r>
              <a:rPr lang="en-US" dirty="0" err="1"/>
              <a:t>Hoạt</a:t>
            </a:r>
            <a:r>
              <a:rPr lang="en-US" dirty="0"/>
              <a:t> </a:t>
            </a:r>
            <a:r>
              <a:rPr lang="en-US" dirty="0" err="1"/>
              <a:t>động</a:t>
            </a:r>
            <a:r>
              <a:rPr lang="en-US" dirty="0"/>
              <a:t> </a:t>
            </a:r>
            <a:r>
              <a:rPr lang="en-US" dirty="0" err="1"/>
              <a:t>tốt</a:t>
            </a:r>
            <a:r>
              <a:rPr lang="en-US" dirty="0"/>
              <a:t> </a:t>
            </a:r>
            <a:r>
              <a:rPr lang="en-US" dirty="0" err="1"/>
              <a:t>trong</a:t>
            </a:r>
            <a:r>
              <a:rPr lang="en-US" dirty="0"/>
              <a:t> </a:t>
            </a:r>
            <a:r>
              <a:rPr lang="en-US" dirty="0" err="1"/>
              <a:t>điều</a:t>
            </a:r>
            <a:r>
              <a:rPr lang="en-US" dirty="0"/>
              <a:t> </a:t>
            </a:r>
            <a:r>
              <a:rPr lang="en-US" dirty="0" err="1"/>
              <a:t>kiện</a:t>
            </a:r>
            <a:r>
              <a:rPr lang="en-US" dirty="0"/>
              <a:t> </a:t>
            </a:r>
            <a:r>
              <a:rPr lang="en-US" dirty="0" err="1"/>
              <a:t>ánh</a:t>
            </a:r>
            <a:r>
              <a:rPr lang="en-US" dirty="0"/>
              <a:t> </a:t>
            </a:r>
            <a:r>
              <a:rPr lang="en-US" dirty="0" err="1"/>
              <a:t>sáng</a:t>
            </a:r>
            <a:r>
              <a:rPr lang="en-US" dirty="0"/>
              <a:t> </a:t>
            </a:r>
            <a:r>
              <a:rPr lang="en-US" dirty="0" err="1"/>
              <a:t>khác</a:t>
            </a:r>
            <a:r>
              <a:rPr lang="en-US" dirty="0"/>
              <a:t> </a:t>
            </a:r>
            <a:r>
              <a:rPr lang="en-US" dirty="0" err="1"/>
              <a:t>nhau</a:t>
            </a:r>
            <a:endParaRPr lang="en-US" dirty="0"/>
          </a:p>
          <a:p>
            <a:r>
              <a:rPr lang="en-US" dirty="0" err="1"/>
              <a:t>Dễ</a:t>
            </a:r>
            <a:r>
              <a:rPr lang="en-US" dirty="0"/>
              <a:t> </a:t>
            </a:r>
            <a:r>
              <a:rPr lang="en-US" dirty="0" err="1"/>
              <a:t>cài</a:t>
            </a:r>
            <a:r>
              <a:rPr lang="en-US" dirty="0"/>
              <a:t> </a:t>
            </a:r>
            <a:r>
              <a:rPr lang="en-US" dirty="0" err="1"/>
              <a:t>đặt</a:t>
            </a:r>
            <a:r>
              <a:rPr lang="en-US" dirty="0"/>
              <a:t> </a:t>
            </a:r>
            <a:r>
              <a:rPr lang="en-US" dirty="0" err="1"/>
              <a:t>và</a:t>
            </a:r>
            <a:r>
              <a:rPr lang="en-US" dirty="0"/>
              <a:t> </a:t>
            </a:r>
            <a:r>
              <a:rPr lang="en-US" dirty="0" err="1"/>
              <a:t>phù</a:t>
            </a:r>
            <a:r>
              <a:rPr lang="en-US" dirty="0"/>
              <a:t> </a:t>
            </a:r>
            <a:r>
              <a:rPr lang="en-US" dirty="0" err="1"/>
              <a:t>hợp</a:t>
            </a:r>
            <a:r>
              <a:rPr lang="en-US" dirty="0"/>
              <a:t> </a:t>
            </a:r>
            <a:r>
              <a:rPr lang="en-US" dirty="0" err="1"/>
              <a:t>với</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thời</a:t>
            </a:r>
            <a:r>
              <a:rPr lang="en-US" dirty="0"/>
              <a:t> </a:t>
            </a:r>
            <a:r>
              <a:rPr lang="en-US" dirty="0" err="1"/>
              <a:t>gian</a:t>
            </a:r>
            <a:r>
              <a:rPr lang="en-US" dirty="0"/>
              <a:t> </a:t>
            </a:r>
            <a:r>
              <a:rPr lang="en-US" dirty="0" err="1"/>
              <a:t>thực</a:t>
            </a:r>
            <a:endParaRPr lang="en-US" dirty="0"/>
          </a:p>
          <a:p>
            <a:r>
              <a:rPr lang="en-US" dirty="0" err="1"/>
              <a:t>Phù</a:t>
            </a:r>
            <a:r>
              <a:rPr lang="en-US" dirty="0"/>
              <a:t> </a:t>
            </a:r>
            <a:r>
              <a:rPr lang="en-US" dirty="0" err="1"/>
              <a:t>hợp</a:t>
            </a:r>
            <a:r>
              <a:rPr lang="en-US" dirty="0"/>
              <a:t> </a:t>
            </a:r>
            <a:r>
              <a:rPr lang="en-US" dirty="0" err="1"/>
              <a:t>với</a:t>
            </a:r>
            <a:r>
              <a:rPr lang="en-US" dirty="0"/>
              <a:t> </a:t>
            </a:r>
            <a:r>
              <a:rPr lang="en-US" dirty="0" err="1"/>
              <a:t>bài</a:t>
            </a:r>
            <a:r>
              <a:rPr lang="en-US" dirty="0"/>
              <a:t> </a:t>
            </a:r>
            <a:r>
              <a:rPr lang="en-US" dirty="0" err="1"/>
              <a:t>toán</a:t>
            </a:r>
            <a:r>
              <a:rPr lang="en-US" dirty="0"/>
              <a:t> </a:t>
            </a:r>
            <a:r>
              <a:rPr lang="en-US" dirty="0" err="1"/>
              <a:t>nhận</a:t>
            </a:r>
            <a:r>
              <a:rPr lang="en-US" dirty="0"/>
              <a:t> </a:t>
            </a:r>
            <a:r>
              <a:rPr lang="en-US" dirty="0" err="1"/>
              <a:t>diện</a:t>
            </a:r>
            <a:r>
              <a:rPr lang="en-US" dirty="0"/>
              <a:t> </a:t>
            </a:r>
            <a:r>
              <a:rPr lang="en-US" dirty="0" err="1"/>
              <a:t>khuôn</a:t>
            </a:r>
            <a:r>
              <a:rPr lang="en-US" dirty="0"/>
              <a:t> </a:t>
            </a:r>
            <a:r>
              <a:rPr lang="en-US" dirty="0" err="1"/>
              <a:t>mặt</a:t>
            </a:r>
            <a:r>
              <a:rPr lang="en-US" dirty="0"/>
              <a:t> </a:t>
            </a:r>
            <a:r>
              <a:rPr lang="en-US" dirty="0" err="1"/>
              <a:t>trong</a:t>
            </a:r>
            <a:r>
              <a:rPr lang="en-US" dirty="0"/>
              <a:t> </a:t>
            </a:r>
            <a:r>
              <a:rPr lang="en-US" dirty="0" err="1"/>
              <a:t>phạm</a:t>
            </a:r>
            <a:r>
              <a:rPr lang="en-US" dirty="0"/>
              <a:t> vi </a:t>
            </a:r>
            <a:r>
              <a:rPr lang="en-US" dirty="0" err="1"/>
              <a:t>đồ</a:t>
            </a:r>
            <a:r>
              <a:rPr lang="en-US" dirty="0"/>
              <a:t> </a:t>
            </a:r>
            <a:r>
              <a:rPr lang="en-US" dirty="0" err="1"/>
              <a:t>án</a:t>
            </a:r>
            <a:endParaRPr lang="en-US" dirty="0"/>
          </a:p>
          <a:p>
            <a:endParaRPr lang="en-US" b="1"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061607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FE425-FDC9-2AD1-05B5-AE637F34331F}"/>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Huấn luyện mô hình nhận diện khuôn mặt</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A84D67F-AC26-3965-C411-BB50163A3042}"/>
              </a:ext>
            </a:extLst>
          </p:cNvPr>
          <p:cNvSpPr>
            <a:spLocks noGrp="1"/>
          </p:cNvSpPr>
          <p:nvPr>
            <p:ph idx="1"/>
          </p:nvPr>
        </p:nvSpPr>
        <p:spPr>
          <a:xfrm>
            <a:off x="939963" y="1842559"/>
            <a:ext cx="10058400" cy="4023360"/>
          </a:xfrm>
        </p:spPr>
        <p:txBody>
          <a:bodyPr/>
          <a:lstStyle/>
          <a:p>
            <a:r>
              <a:rPr lang="x-none" b="1" dirty="0">
                <a:latin typeface="Arial" panose="020B0604020202020204" pitchFamily="34" charset="0"/>
                <a:cs typeface="Arial" panose="020B0604020202020204" pitchFamily="34" charset="0"/>
              </a:rPr>
              <a:t>Quy trình huấn luyện</a:t>
            </a:r>
            <a:endParaRPr lang="en-US" b="1" dirty="0">
              <a:latin typeface="Arial" panose="020B0604020202020204" pitchFamily="34" charset="0"/>
              <a:cs typeface="Arial" panose="020B0604020202020204" pitchFamily="34" charset="0"/>
            </a:endParaRPr>
          </a:p>
          <a:p>
            <a:r>
              <a:rPr lang="en-US" dirty="0" err="1"/>
              <a:t>Chương</a:t>
            </a:r>
            <a:r>
              <a:rPr lang="en-US" dirty="0"/>
              <a:t> </a:t>
            </a:r>
            <a:r>
              <a:rPr lang="en-US" dirty="0" err="1"/>
              <a:t>trình</a:t>
            </a:r>
            <a:r>
              <a:rPr lang="en-US" dirty="0"/>
              <a:t> train.py </a:t>
            </a:r>
            <a:r>
              <a:rPr lang="en-US" dirty="0" err="1"/>
              <a:t>thực</a:t>
            </a:r>
            <a:r>
              <a:rPr lang="en-US" dirty="0"/>
              <a:t> </a:t>
            </a:r>
            <a:r>
              <a:rPr lang="en-US" dirty="0" err="1"/>
              <a:t>hiện</a:t>
            </a:r>
            <a:r>
              <a:rPr lang="en-US" dirty="0"/>
              <a:t>:</a:t>
            </a:r>
          </a:p>
          <a:p>
            <a:r>
              <a:rPr lang="en-US" dirty="0" err="1"/>
              <a:t>Đọc</a:t>
            </a:r>
            <a:r>
              <a:rPr lang="en-US" dirty="0"/>
              <a:t> </a:t>
            </a:r>
            <a:r>
              <a:rPr lang="en-US" dirty="0" err="1"/>
              <a:t>toàn</a:t>
            </a:r>
            <a:r>
              <a:rPr lang="en-US" dirty="0"/>
              <a:t> </a:t>
            </a:r>
            <a:r>
              <a:rPr lang="en-US" dirty="0" err="1"/>
              <a:t>bộ</a:t>
            </a:r>
            <a:r>
              <a:rPr lang="en-US" dirty="0"/>
              <a:t> </a:t>
            </a:r>
            <a:r>
              <a:rPr lang="en-US" dirty="0" err="1"/>
              <a:t>ảnh</a:t>
            </a:r>
            <a:r>
              <a:rPr lang="en-US" dirty="0"/>
              <a:t> </a:t>
            </a:r>
            <a:r>
              <a:rPr lang="en-US" dirty="0" err="1"/>
              <a:t>trong</a:t>
            </a:r>
            <a:r>
              <a:rPr lang="en-US" dirty="0"/>
              <a:t> </a:t>
            </a:r>
            <a:r>
              <a:rPr lang="en-US" dirty="0" err="1"/>
              <a:t>thư</a:t>
            </a:r>
            <a:r>
              <a:rPr lang="en-US" dirty="0"/>
              <a:t> </a:t>
            </a:r>
            <a:r>
              <a:rPr lang="en-US" dirty="0" err="1"/>
              <a:t>mục</a:t>
            </a:r>
            <a:r>
              <a:rPr lang="en-US" dirty="0"/>
              <a:t> dataset.</a:t>
            </a:r>
          </a:p>
          <a:p>
            <a:r>
              <a:rPr lang="en-US" dirty="0" err="1"/>
              <a:t>Trích</a:t>
            </a:r>
            <a:r>
              <a:rPr lang="en-US" dirty="0"/>
              <a:t> </a:t>
            </a:r>
            <a:r>
              <a:rPr lang="en-US" dirty="0" err="1"/>
              <a:t>xuất</a:t>
            </a:r>
            <a:r>
              <a:rPr lang="en-US" dirty="0"/>
              <a:t> ID </a:t>
            </a:r>
            <a:r>
              <a:rPr lang="en-US" dirty="0" err="1"/>
              <a:t>người</a:t>
            </a:r>
            <a:r>
              <a:rPr lang="en-US" dirty="0"/>
              <a:t> </a:t>
            </a:r>
            <a:r>
              <a:rPr lang="en-US" dirty="0" err="1"/>
              <a:t>dùng</a:t>
            </a:r>
            <a:r>
              <a:rPr lang="en-US" dirty="0"/>
              <a:t> </a:t>
            </a:r>
            <a:r>
              <a:rPr lang="en-US" dirty="0" err="1"/>
              <a:t>từ</a:t>
            </a:r>
            <a:r>
              <a:rPr lang="en-US" dirty="0"/>
              <a:t> </a:t>
            </a:r>
            <a:r>
              <a:rPr lang="en-US" dirty="0" err="1"/>
              <a:t>tên</a:t>
            </a:r>
            <a:r>
              <a:rPr lang="en-US" dirty="0"/>
              <a:t> file </a:t>
            </a:r>
            <a:r>
              <a:rPr lang="en-US" dirty="0" err="1"/>
              <a:t>ảnh</a:t>
            </a:r>
            <a:r>
              <a:rPr lang="en-US" dirty="0"/>
              <a:t>.</a:t>
            </a:r>
          </a:p>
          <a:p>
            <a:r>
              <a:rPr lang="en-US" dirty="0" err="1"/>
              <a:t>Đưa</a:t>
            </a:r>
            <a:r>
              <a:rPr lang="en-US" dirty="0"/>
              <a:t> </a:t>
            </a:r>
            <a:r>
              <a:rPr lang="en-US" dirty="0" err="1"/>
              <a:t>ảnh</a:t>
            </a:r>
            <a:r>
              <a:rPr lang="en-US" dirty="0"/>
              <a:t> </a:t>
            </a:r>
            <a:r>
              <a:rPr lang="en-US" dirty="0" err="1"/>
              <a:t>và</a:t>
            </a:r>
            <a:r>
              <a:rPr lang="en-US" dirty="0"/>
              <a:t> </a:t>
            </a:r>
            <a:r>
              <a:rPr lang="en-US" dirty="0" err="1"/>
              <a:t>nhãn</a:t>
            </a:r>
            <a:r>
              <a:rPr lang="en-US" dirty="0"/>
              <a:t> </a:t>
            </a:r>
            <a:r>
              <a:rPr lang="en-US" dirty="0" err="1"/>
              <a:t>tương</a:t>
            </a:r>
            <a:r>
              <a:rPr lang="en-US" dirty="0"/>
              <a:t> </a:t>
            </a:r>
            <a:r>
              <a:rPr lang="en-US" dirty="0" err="1"/>
              <a:t>ứng</a:t>
            </a:r>
            <a:r>
              <a:rPr lang="en-US" dirty="0"/>
              <a:t> </a:t>
            </a:r>
            <a:r>
              <a:rPr lang="en-US" dirty="0" err="1"/>
              <a:t>vào</a:t>
            </a:r>
            <a:r>
              <a:rPr lang="en-US" dirty="0"/>
              <a:t> </a:t>
            </a:r>
            <a:r>
              <a:rPr lang="en-US" dirty="0" err="1"/>
              <a:t>mô</a:t>
            </a:r>
            <a:r>
              <a:rPr lang="en-US" dirty="0"/>
              <a:t> </a:t>
            </a:r>
            <a:r>
              <a:rPr lang="en-US" dirty="0" err="1"/>
              <a:t>hình</a:t>
            </a:r>
            <a:r>
              <a:rPr lang="en-US" dirty="0"/>
              <a:t> LBPH.</a:t>
            </a:r>
          </a:p>
          <a:p>
            <a:r>
              <a:rPr lang="en-US" dirty="0" err="1"/>
              <a:t>Huấn</a:t>
            </a:r>
            <a:r>
              <a:rPr lang="en-US" dirty="0"/>
              <a:t> </a:t>
            </a:r>
            <a:r>
              <a:rPr lang="en-US" dirty="0" err="1"/>
              <a:t>luyện</a:t>
            </a:r>
            <a:r>
              <a:rPr lang="en-US" dirty="0"/>
              <a:t> </a:t>
            </a:r>
            <a:r>
              <a:rPr lang="en-US" dirty="0" err="1"/>
              <a:t>mô</a:t>
            </a:r>
            <a:r>
              <a:rPr lang="en-US" dirty="0"/>
              <a:t> </a:t>
            </a:r>
            <a:r>
              <a:rPr lang="en-US" dirty="0" err="1"/>
              <a:t>hình</a:t>
            </a:r>
            <a:r>
              <a:rPr lang="en-US" dirty="0"/>
              <a:t> </a:t>
            </a:r>
            <a:r>
              <a:rPr lang="en-US" dirty="0" err="1"/>
              <a:t>và</a:t>
            </a:r>
            <a:r>
              <a:rPr lang="en-US" dirty="0"/>
              <a:t> </a:t>
            </a:r>
            <a:r>
              <a:rPr lang="en-US" dirty="0" err="1"/>
              <a:t>lưu</a:t>
            </a:r>
            <a:r>
              <a:rPr lang="en-US" dirty="0"/>
              <a:t> </a:t>
            </a:r>
            <a:r>
              <a:rPr lang="en-US" dirty="0" err="1"/>
              <a:t>kết</a:t>
            </a:r>
            <a:r>
              <a:rPr lang="en-US" dirty="0"/>
              <a:t> </a:t>
            </a:r>
            <a:r>
              <a:rPr lang="en-US" dirty="0" err="1"/>
              <a:t>quả</a:t>
            </a:r>
            <a:r>
              <a:rPr lang="en-US" dirty="0"/>
              <a:t> </a:t>
            </a:r>
            <a:r>
              <a:rPr lang="en-US" dirty="0" err="1"/>
              <a:t>vào</a:t>
            </a:r>
            <a:r>
              <a:rPr lang="en-US" dirty="0"/>
              <a:t> file </a:t>
            </a:r>
            <a:r>
              <a:rPr lang="en-US" dirty="0" err="1"/>
              <a:t>trainer.yml</a:t>
            </a:r>
            <a:r>
              <a:rPr lang="en-US" dirty="0"/>
              <a:t>.</a:t>
            </a:r>
          </a:p>
          <a:p>
            <a:r>
              <a:rPr lang="en-US" dirty="0"/>
              <a:t>File </a:t>
            </a:r>
            <a:r>
              <a:rPr lang="en-US" dirty="0" err="1"/>
              <a:t>trainer.yml</a:t>
            </a:r>
            <a:r>
              <a:rPr lang="en-US" dirty="0"/>
              <a:t> </a:t>
            </a:r>
            <a:r>
              <a:rPr lang="en-US" dirty="0" err="1"/>
              <a:t>là</a:t>
            </a:r>
            <a:r>
              <a:rPr lang="en-US" dirty="0"/>
              <a:t> </a:t>
            </a:r>
            <a:r>
              <a:rPr lang="en-US" dirty="0" err="1"/>
              <a:t>kết</a:t>
            </a:r>
            <a:r>
              <a:rPr lang="en-US" dirty="0"/>
              <a:t> </a:t>
            </a:r>
            <a:r>
              <a:rPr lang="en-US" dirty="0" err="1"/>
              <a:t>quả</a:t>
            </a:r>
            <a:r>
              <a:rPr lang="en-US" dirty="0"/>
              <a:t> </a:t>
            </a:r>
            <a:r>
              <a:rPr lang="en-US" dirty="0" err="1"/>
              <a:t>huấn</a:t>
            </a:r>
            <a:r>
              <a:rPr lang="en-US" dirty="0"/>
              <a:t> </a:t>
            </a:r>
            <a:r>
              <a:rPr lang="en-US" dirty="0" err="1"/>
              <a:t>luyện</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lại</a:t>
            </a:r>
            <a:r>
              <a:rPr lang="en-US" dirty="0"/>
              <a:t> </a:t>
            </a:r>
            <a:r>
              <a:rPr lang="en-US" dirty="0" err="1"/>
              <a:t>trong</a:t>
            </a:r>
            <a:r>
              <a:rPr lang="en-US" dirty="0"/>
              <a:t> </a:t>
            </a:r>
            <a:r>
              <a:rPr lang="en-US" dirty="0" err="1"/>
              <a:t>giai</a:t>
            </a:r>
            <a:r>
              <a:rPr lang="en-US" dirty="0"/>
              <a:t> </a:t>
            </a:r>
            <a:r>
              <a:rPr lang="en-US" dirty="0" err="1"/>
              <a:t>đoạn</a:t>
            </a:r>
            <a:r>
              <a:rPr lang="en-US" dirty="0"/>
              <a:t> </a:t>
            </a:r>
            <a:r>
              <a:rPr lang="en-US" dirty="0" err="1"/>
              <a:t>nhận</a:t>
            </a:r>
            <a:r>
              <a:rPr lang="en-US" dirty="0"/>
              <a:t> </a:t>
            </a:r>
            <a:r>
              <a:rPr lang="en-US" dirty="0" err="1"/>
              <a:t>diện</a:t>
            </a:r>
            <a:r>
              <a:rPr lang="en-US" dirty="0"/>
              <a:t>.</a:t>
            </a:r>
          </a:p>
          <a:p>
            <a:endParaRPr lang="en-US" dirty="0"/>
          </a:p>
        </p:txBody>
      </p:sp>
      <p:pic>
        <p:nvPicPr>
          <p:cNvPr id="5" name="Picture 4">
            <a:extLst>
              <a:ext uri="{FF2B5EF4-FFF2-40B4-BE49-F238E27FC236}">
                <a16:creationId xmlns:a16="http://schemas.microsoft.com/office/drawing/2014/main" id="{F371570C-567E-4B42-6F84-02CEBB2B0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5180831"/>
            <a:ext cx="3362325" cy="409575"/>
          </a:xfrm>
          <a:prstGeom prst="rect">
            <a:avLst/>
          </a:prstGeom>
        </p:spPr>
      </p:pic>
    </p:spTree>
    <p:extLst>
      <p:ext uri="{BB962C8B-B14F-4D97-AF65-F5344CB8AC3E}">
        <p14:creationId xmlns:p14="http://schemas.microsoft.com/office/powerpoint/2010/main" val="39191888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9A990-675B-E182-6D53-1C09A1B1CB7B}"/>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Nhận diện khuôn mặt thời gian thực</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994AA7F-FA93-D14B-4734-46C41A4619A1}"/>
              </a:ext>
            </a:extLst>
          </p:cNvPr>
          <p:cNvSpPr>
            <a:spLocks noGrp="1"/>
          </p:cNvSpPr>
          <p:nvPr>
            <p:ph idx="1"/>
          </p:nvPr>
        </p:nvSpPr>
        <p:spPr/>
        <p:txBody>
          <a:bodyPr/>
          <a:lstStyle/>
          <a:p>
            <a:r>
              <a:rPr lang="x-none" b="1" dirty="0">
                <a:latin typeface="Arial" panose="020B0604020202020204" pitchFamily="34" charset="0"/>
                <a:cs typeface="Arial" panose="020B0604020202020204" pitchFamily="34" charset="0"/>
              </a:rPr>
              <a:t>Mục đích</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Giai </a:t>
            </a:r>
            <a:r>
              <a:rPr lang="en-US" dirty="0" err="1">
                <a:latin typeface="Arial" panose="020B0604020202020204" pitchFamily="34" charset="0"/>
                <a:cs typeface="Arial" panose="020B0604020202020204" pitchFamily="34" charset="0"/>
              </a:rPr>
              <a:t>đoạn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phép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xuất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trước</a:t>
            </a:r>
            <a:r>
              <a:rPr lang="en-US" dirty="0">
                <a:latin typeface="Arial" panose="020B0604020202020204" pitchFamily="34" charset="0"/>
                <a:cs typeface="Arial" panose="020B0604020202020204" pitchFamily="34" charset="0"/>
              </a:rPr>
              <a:t> camera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3006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08F41-1E62-D8D9-7422-FB70907E9894}"/>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Nhận diện khuôn mặt thời gian thực</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0F75500-426F-4C6D-7962-A50F47C59365}"/>
              </a:ext>
            </a:extLst>
          </p:cNvPr>
          <p:cNvSpPr>
            <a:spLocks noGrp="1"/>
          </p:cNvSpPr>
          <p:nvPr>
            <p:ph idx="1"/>
          </p:nvPr>
        </p:nvSpPr>
        <p:spPr/>
        <p:txBody>
          <a:bodyPr/>
          <a:lstStyle/>
          <a:p>
            <a:r>
              <a:rPr lang="x-none" b="1" dirty="0">
                <a:latin typeface="Arial" panose="020B0604020202020204" pitchFamily="34" charset="0"/>
                <a:cs typeface="Arial" panose="020B0604020202020204" pitchFamily="34" charset="0"/>
              </a:rPr>
              <a:t>Phát hiện khuôn mặt</a:t>
            </a:r>
            <a:endParaRPr lang="en-US" b="1"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khắc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phục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Haar Cascade </a:t>
            </a:r>
            <a:r>
              <a:rPr lang="en-US" dirty="0" err="1">
                <a:latin typeface="Arial" panose="020B0604020202020204" pitchFamily="34" charset="0"/>
                <a:cs typeface="Arial" panose="020B0604020202020204" pitchFamily="34" charset="0"/>
              </a:rPr>
              <a:t>chỉ</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tốt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Haar Cascade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frontalface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Haar Cascade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nghiêng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profileface</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Kỹ</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(flip)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quay sang </a:t>
            </a:r>
            <a:r>
              <a:rPr lang="en-US" dirty="0" err="1">
                <a:latin typeface="Arial" panose="020B0604020202020204" pitchFamily="34" charset="0"/>
                <a:cs typeface="Arial" panose="020B0604020202020204" pitchFamily="34" charset="0"/>
              </a:rPr>
              <a:t>hai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bên</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Cách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tiếp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này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giúp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trường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 quay </a:t>
            </a:r>
            <a:r>
              <a:rPr lang="en-US" dirty="0" err="1">
                <a:latin typeface="Arial" panose="020B0604020202020204" pitchFamily="34" charset="0"/>
                <a:cs typeface="Arial" panose="020B0604020202020204" pitchFamily="34" charset="0"/>
              </a:rPr>
              <a:t>trái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hoặc</a:t>
            </a:r>
            <a:r>
              <a:rPr lang="en-US" dirty="0">
                <a:latin typeface="Arial" panose="020B0604020202020204" pitchFamily="34" charset="0"/>
                <a:cs typeface="Arial" panose="020B0604020202020204" pitchFamily="34" charset="0"/>
              </a:rPr>
              <a:t> quay </a:t>
            </a:r>
            <a:r>
              <a:rPr lang="en-US" dirty="0" err="1">
                <a:latin typeface="Arial" panose="020B0604020202020204" pitchFamily="34" charset="0"/>
                <a:cs typeface="Arial" panose="020B0604020202020204" pitchFamily="34" charset="0"/>
              </a:rPr>
              <a:t>phải</a:t>
            </a:r>
            <a:r>
              <a:rPr lang="en-US"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1058533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C3164-7FC8-144D-C73D-6879DC69B67B}"/>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Nhận diện khuôn mặt thời gian thực</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7CF9B0D-7C20-8224-D64B-FC16A3126FBD}"/>
              </a:ext>
            </a:extLst>
          </p:cNvPr>
          <p:cNvSpPr>
            <a:spLocks noGrp="1"/>
          </p:cNvSpPr>
          <p:nvPr>
            <p:ph idx="1"/>
          </p:nvPr>
        </p:nvSpPr>
        <p:spPr>
          <a:xfrm>
            <a:off x="261538" y="1963721"/>
            <a:ext cx="5686978" cy="4023360"/>
          </a:xfrm>
        </p:spPr>
        <p:txBody>
          <a:bodyPr>
            <a:normAutofit fontScale="92500" lnSpcReduction="10000"/>
          </a:bodyPr>
          <a:lstStyle/>
          <a:p>
            <a:r>
              <a:rPr lang="x-none" b="1" dirty="0">
                <a:latin typeface="Arial" panose="020B0604020202020204" pitchFamily="34" charset="0"/>
                <a:cs typeface="Arial" panose="020B0604020202020204" pitchFamily="34" charset="0"/>
              </a:rPr>
              <a:t>Nhận diện và đánh giá độ tin cậy</a:t>
            </a:r>
            <a:endParaRPr lang="en-US" b="1" dirty="0">
              <a:latin typeface="Arial" panose="020B0604020202020204" pitchFamily="34" charset="0"/>
              <a:cs typeface="Arial" panose="020B0604020202020204" pitchFamily="34" charset="0"/>
            </a:endParaRPr>
          </a:p>
          <a:p>
            <a:r>
              <a:rPr lang="en-US" dirty="0"/>
              <a:t>Sau </a:t>
            </a:r>
            <a:r>
              <a:rPr lang="en-US" dirty="0" err="1"/>
              <a:t>khi</a:t>
            </a:r>
            <a:r>
              <a:rPr lang="en-US" dirty="0"/>
              <a:t> </a:t>
            </a:r>
            <a:r>
              <a:rPr lang="en-US" dirty="0" err="1"/>
              <a:t>phát</a:t>
            </a:r>
            <a:r>
              <a:rPr lang="en-US" dirty="0"/>
              <a:t> </a:t>
            </a:r>
            <a:r>
              <a:rPr lang="en-US" dirty="0" err="1"/>
              <a:t>hiện</a:t>
            </a:r>
            <a:r>
              <a:rPr lang="en-US" dirty="0"/>
              <a:t> </a:t>
            </a:r>
            <a:r>
              <a:rPr lang="en-US" dirty="0" err="1"/>
              <a:t>khuôn</a:t>
            </a:r>
            <a:r>
              <a:rPr lang="en-US" dirty="0"/>
              <a:t> </a:t>
            </a:r>
            <a:r>
              <a:rPr lang="en-US" dirty="0" err="1"/>
              <a:t>mặt</a:t>
            </a:r>
            <a:r>
              <a:rPr lang="en-US" dirty="0"/>
              <a:t>:</a:t>
            </a:r>
          </a:p>
          <a:p>
            <a:r>
              <a:rPr lang="en-US" dirty="0" err="1"/>
              <a:t>Vùng</a:t>
            </a:r>
            <a:r>
              <a:rPr lang="en-US" dirty="0"/>
              <a:t> </a:t>
            </a:r>
            <a:r>
              <a:rPr lang="en-US" dirty="0" err="1"/>
              <a:t>khuôn</a:t>
            </a:r>
            <a:r>
              <a:rPr lang="en-US" dirty="0"/>
              <a:t> </a:t>
            </a:r>
            <a:r>
              <a:rPr lang="en-US" dirty="0" err="1"/>
              <a:t>mặt</a:t>
            </a:r>
            <a:r>
              <a:rPr lang="en-US" dirty="0"/>
              <a:t> </a:t>
            </a:r>
            <a:r>
              <a:rPr lang="en-US" dirty="0" err="1"/>
              <a:t>được</a:t>
            </a:r>
            <a:r>
              <a:rPr lang="en-US" dirty="0"/>
              <a:t> </a:t>
            </a:r>
            <a:r>
              <a:rPr lang="en-US" dirty="0" err="1"/>
              <a:t>cắt</a:t>
            </a:r>
            <a:r>
              <a:rPr lang="en-US" dirty="0"/>
              <a:t> </a:t>
            </a:r>
            <a:r>
              <a:rPr lang="en-US" dirty="0" err="1"/>
              <a:t>và</a:t>
            </a:r>
            <a:r>
              <a:rPr lang="en-US" dirty="0"/>
              <a:t> resize </a:t>
            </a:r>
            <a:r>
              <a:rPr lang="en-US" dirty="0" err="1"/>
              <a:t>về</a:t>
            </a:r>
            <a:r>
              <a:rPr lang="en-US" dirty="0"/>
              <a:t> </a:t>
            </a:r>
            <a:r>
              <a:rPr lang="en-US" dirty="0" err="1"/>
              <a:t>kích</a:t>
            </a:r>
            <a:r>
              <a:rPr lang="en-US" dirty="0"/>
              <a:t> </a:t>
            </a:r>
            <a:r>
              <a:rPr lang="en-US" dirty="0" err="1"/>
              <a:t>thước</a:t>
            </a:r>
            <a:r>
              <a:rPr lang="en-US" dirty="0"/>
              <a:t> 200×200.</a:t>
            </a:r>
          </a:p>
          <a:p>
            <a:r>
              <a:rPr lang="en-US" dirty="0" err="1"/>
              <a:t>Mô</a:t>
            </a:r>
            <a:r>
              <a:rPr lang="en-US" dirty="0"/>
              <a:t> </a:t>
            </a:r>
            <a:r>
              <a:rPr lang="en-US" dirty="0" err="1"/>
              <a:t>hình</a:t>
            </a:r>
            <a:r>
              <a:rPr lang="en-US" dirty="0"/>
              <a:t> LBPH </a:t>
            </a:r>
            <a:r>
              <a:rPr lang="en-US" dirty="0" err="1"/>
              <a:t>dự</a:t>
            </a:r>
            <a:r>
              <a:rPr lang="en-US" dirty="0"/>
              <a:t> </a:t>
            </a:r>
            <a:r>
              <a:rPr lang="en-US" dirty="0" err="1"/>
              <a:t>đoán</a:t>
            </a:r>
            <a:r>
              <a:rPr lang="en-US" dirty="0"/>
              <a:t> ID </a:t>
            </a:r>
            <a:r>
              <a:rPr lang="en-US" dirty="0" err="1"/>
              <a:t>và</a:t>
            </a:r>
            <a:r>
              <a:rPr lang="en-US" dirty="0"/>
              <a:t> </a:t>
            </a:r>
            <a:r>
              <a:rPr lang="en-US" dirty="0" err="1"/>
              <a:t>trả</a:t>
            </a:r>
            <a:r>
              <a:rPr lang="en-US" dirty="0"/>
              <a:t> </a:t>
            </a:r>
            <a:r>
              <a:rPr lang="en-US" dirty="0" err="1"/>
              <a:t>về</a:t>
            </a:r>
            <a:r>
              <a:rPr lang="en-US" dirty="0"/>
              <a:t> </a:t>
            </a:r>
            <a:r>
              <a:rPr lang="en-US" dirty="0" err="1"/>
              <a:t>giá</a:t>
            </a:r>
            <a:r>
              <a:rPr lang="en-US" dirty="0"/>
              <a:t> </a:t>
            </a:r>
            <a:r>
              <a:rPr lang="en-US" dirty="0" err="1"/>
              <a:t>trị</a:t>
            </a:r>
            <a:r>
              <a:rPr lang="en-US" dirty="0"/>
              <a:t> </a:t>
            </a:r>
            <a:r>
              <a:rPr lang="en-US" dirty="0" err="1"/>
              <a:t>độ</a:t>
            </a:r>
            <a:r>
              <a:rPr lang="en-US" dirty="0"/>
              <a:t> tin </a:t>
            </a:r>
            <a:r>
              <a:rPr lang="en-US" dirty="0" err="1"/>
              <a:t>cậy</a:t>
            </a:r>
            <a:r>
              <a:rPr lang="en-US" dirty="0"/>
              <a:t> (confidence).</a:t>
            </a:r>
          </a:p>
          <a:p>
            <a:r>
              <a:rPr lang="en-US" dirty="0" err="1"/>
              <a:t>Nếu</a:t>
            </a:r>
            <a:r>
              <a:rPr lang="en-US" dirty="0"/>
              <a:t> confidence </a:t>
            </a:r>
            <a:r>
              <a:rPr lang="en-US" dirty="0" err="1"/>
              <a:t>nhỏ</a:t>
            </a:r>
            <a:r>
              <a:rPr lang="en-US" dirty="0"/>
              <a:t> </a:t>
            </a:r>
            <a:r>
              <a:rPr lang="en-US" dirty="0" err="1"/>
              <a:t>hơn</a:t>
            </a:r>
            <a:r>
              <a:rPr lang="en-US" dirty="0"/>
              <a:t> </a:t>
            </a:r>
            <a:r>
              <a:rPr lang="en-US" dirty="0" err="1"/>
              <a:t>ngưỡng</a:t>
            </a:r>
            <a:r>
              <a:rPr lang="en-US" dirty="0"/>
              <a:t> </a:t>
            </a:r>
            <a:r>
              <a:rPr lang="en-US" dirty="0" err="1"/>
              <a:t>xác</a:t>
            </a:r>
            <a:r>
              <a:rPr lang="en-US" dirty="0"/>
              <a:t> </a:t>
            </a:r>
            <a:r>
              <a:rPr lang="en-US" dirty="0" err="1"/>
              <a:t>định</a:t>
            </a:r>
            <a:r>
              <a:rPr lang="en-US" dirty="0"/>
              <a:t> (65), </a:t>
            </a:r>
            <a:r>
              <a:rPr lang="en-US" dirty="0" err="1"/>
              <a:t>khuôn</a:t>
            </a:r>
            <a:r>
              <a:rPr lang="en-US" dirty="0"/>
              <a:t> </a:t>
            </a:r>
            <a:r>
              <a:rPr lang="en-US" dirty="0" err="1"/>
              <a:t>mặt</a:t>
            </a:r>
            <a:r>
              <a:rPr lang="en-US" dirty="0"/>
              <a:t> </a:t>
            </a:r>
            <a:r>
              <a:rPr lang="en-US" dirty="0" err="1"/>
              <a:t>được</a:t>
            </a:r>
            <a:r>
              <a:rPr lang="en-US" dirty="0"/>
              <a:t> </a:t>
            </a:r>
            <a:r>
              <a:rPr lang="en-US" dirty="0" err="1"/>
              <a:t>coi</a:t>
            </a:r>
            <a:r>
              <a:rPr lang="en-US" dirty="0"/>
              <a:t> </a:t>
            </a:r>
            <a:r>
              <a:rPr lang="en-US" dirty="0" err="1"/>
              <a:t>là</a:t>
            </a:r>
            <a:r>
              <a:rPr lang="en-US" dirty="0"/>
              <a:t> </a:t>
            </a:r>
            <a:r>
              <a:rPr lang="en-US" dirty="0" err="1"/>
              <a:t>hợp</a:t>
            </a:r>
            <a:r>
              <a:rPr lang="en-US" dirty="0"/>
              <a:t> </a:t>
            </a:r>
            <a:r>
              <a:rPr lang="en-US" dirty="0" err="1"/>
              <a:t>lệ</a:t>
            </a:r>
            <a:r>
              <a:rPr lang="en-US" dirty="0"/>
              <a:t>.</a:t>
            </a:r>
          </a:p>
          <a:p>
            <a:r>
              <a:rPr lang="en-US" dirty="0"/>
              <a:t>Thông tin </a:t>
            </a:r>
            <a:r>
              <a:rPr lang="en-US" dirty="0" err="1"/>
              <a:t>tên</a:t>
            </a:r>
            <a:r>
              <a:rPr lang="en-US" dirty="0"/>
              <a:t> </a:t>
            </a:r>
            <a:r>
              <a:rPr lang="en-US" dirty="0" err="1"/>
              <a:t>người</a:t>
            </a:r>
            <a:r>
              <a:rPr lang="en-US" dirty="0"/>
              <a:t> </a:t>
            </a:r>
            <a:r>
              <a:rPr lang="en-US" dirty="0" err="1"/>
              <a:t>dùng</a:t>
            </a:r>
            <a:r>
              <a:rPr lang="en-US" dirty="0"/>
              <a:t> </a:t>
            </a:r>
            <a:r>
              <a:rPr lang="en-US" dirty="0" err="1"/>
              <a:t>được</a:t>
            </a:r>
            <a:r>
              <a:rPr lang="en-US" dirty="0"/>
              <a:t> </a:t>
            </a:r>
            <a:r>
              <a:rPr lang="en-US" dirty="0" err="1"/>
              <a:t>truy</a:t>
            </a:r>
            <a:r>
              <a:rPr lang="en-US" dirty="0"/>
              <a:t> </a:t>
            </a:r>
            <a:r>
              <a:rPr lang="en-US" dirty="0" err="1"/>
              <a:t>vấn</a:t>
            </a:r>
            <a:r>
              <a:rPr lang="en-US" dirty="0"/>
              <a:t> </a:t>
            </a:r>
            <a:r>
              <a:rPr lang="en-US" dirty="0" err="1"/>
              <a:t>từ</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SQLite </a:t>
            </a:r>
            <a:r>
              <a:rPr lang="en-US" dirty="0" err="1"/>
              <a:t>và</a:t>
            </a:r>
            <a:r>
              <a:rPr lang="en-US" dirty="0"/>
              <a:t> </a:t>
            </a:r>
            <a:r>
              <a:rPr lang="en-US" dirty="0" err="1"/>
              <a:t>hiển</a:t>
            </a:r>
            <a:r>
              <a:rPr lang="en-US" dirty="0"/>
              <a:t> </a:t>
            </a:r>
            <a:r>
              <a:rPr lang="en-US" dirty="0" err="1"/>
              <a:t>thị</a:t>
            </a:r>
            <a:r>
              <a:rPr lang="en-US" dirty="0"/>
              <a:t> </a:t>
            </a:r>
            <a:r>
              <a:rPr lang="en-US" dirty="0" err="1"/>
              <a:t>lên</a:t>
            </a:r>
            <a:r>
              <a:rPr lang="en-US" dirty="0"/>
              <a:t> </a:t>
            </a:r>
            <a:r>
              <a:rPr lang="en-US" dirty="0" err="1"/>
              <a:t>màn</a:t>
            </a:r>
            <a:r>
              <a:rPr lang="en-US" dirty="0"/>
              <a:t> </a:t>
            </a:r>
            <a:r>
              <a:rPr lang="en-US" dirty="0" err="1"/>
              <a:t>hình</a:t>
            </a:r>
            <a:r>
              <a:rPr lang="en-US" dirty="0"/>
              <a:t>.</a:t>
            </a:r>
          </a:p>
          <a:p>
            <a:r>
              <a:rPr lang="en-US" dirty="0" err="1"/>
              <a:t>Ngưỡng</a:t>
            </a:r>
            <a:r>
              <a:rPr lang="en-US" dirty="0"/>
              <a:t> confidence </a:t>
            </a:r>
            <a:r>
              <a:rPr lang="en-US" dirty="0" err="1"/>
              <a:t>được</a:t>
            </a:r>
            <a:r>
              <a:rPr lang="en-US" dirty="0"/>
              <a:t> </a:t>
            </a:r>
            <a:r>
              <a:rPr lang="en-US" dirty="0" err="1"/>
              <a:t>lựa</a:t>
            </a:r>
            <a:r>
              <a:rPr lang="en-US" dirty="0"/>
              <a:t> </a:t>
            </a:r>
            <a:r>
              <a:rPr lang="en-US" dirty="0" err="1"/>
              <a:t>chọn</a:t>
            </a:r>
            <a:r>
              <a:rPr lang="en-US" dirty="0"/>
              <a:t> </a:t>
            </a:r>
            <a:r>
              <a:rPr lang="en-US" dirty="0" err="1"/>
              <a:t>dựa</a:t>
            </a:r>
            <a:r>
              <a:rPr lang="en-US" dirty="0"/>
              <a:t> </a:t>
            </a:r>
            <a:r>
              <a:rPr lang="en-US" dirty="0" err="1"/>
              <a:t>trên</a:t>
            </a:r>
            <a:r>
              <a:rPr lang="en-US" dirty="0"/>
              <a:t> </a:t>
            </a:r>
            <a:r>
              <a:rPr lang="en-US" dirty="0" err="1"/>
              <a:t>quá</a:t>
            </a:r>
            <a:r>
              <a:rPr lang="en-US" dirty="0"/>
              <a:t> </a:t>
            </a:r>
            <a:r>
              <a:rPr lang="en-US" dirty="0" err="1"/>
              <a:t>trình</a:t>
            </a:r>
            <a:r>
              <a:rPr lang="en-US" dirty="0"/>
              <a:t> </a:t>
            </a:r>
            <a:r>
              <a:rPr lang="en-US" dirty="0" err="1"/>
              <a:t>thử</a:t>
            </a:r>
            <a:r>
              <a:rPr lang="en-US" dirty="0"/>
              <a:t> </a:t>
            </a:r>
            <a:r>
              <a:rPr lang="en-US" dirty="0" err="1"/>
              <a:t>nghiệm</a:t>
            </a:r>
            <a:r>
              <a:rPr lang="en-US" dirty="0"/>
              <a:t> </a:t>
            </a:r>
            <a:r>
              <a:rPr lang="en-US" dirty="0" err="1"/>
              <a:t>nhằm</a:t>
            </a:r>
            <a:r>
              <a:rPr lang="en-US" dirty="0"/>
              <a:t> </a:t>
            </a:r>
            <a:r>
              <a:rPr lang="en-US" dirty="0" err="1"/>
              <a:t>giảm</a:t>
            </a:r>
            <a:r>
              <a:rPr lang="en-US" dirty="0"/>
              <a:t> </a:t>
            </a:r>
            <a:r>
              <a:rPr lang="en-US" dirty="0" err="1"/>
              <a:t>thiểu</a:t>
            </a:r>
            <a:r>
              <a:rPr lang="en-US" dirty="0"/>
              <a:t> </a:t>
            </a:r>
            <a:r>
              <a:rPr lang="en-US" dirty="0" err="1"/>
              <a:t>nhận</a:t>
            </a:r>
            <a:r>
              <a:rPr lang="en-US" dirty="0"/>
              <a:t> </a:t>
            </a:r>
            <a:r>
              <a:rPr lang="en-US" dirty="0" err="1"/>
              <a:t>diện</a:t>
            </a:r>
            <a:r>
              <a:rPr lang="en-US" dirty="0"/>
              <a:t> </a:t>
            </a:r>
            <a:r>
              <a:rPr lang="en-US" dirty="0" err="1"/>
              <a:t>sai</a:t>
            </a:r>
            <a:r>
              <a:rPr lang="en-US" dirty="0"/>
              <a:t>.</a:t>
            </a:r>
          </a:p>
        </p:txBody>
      </p:sp>
      <p:pic>
        <p:nvPicPr>
          <p:cNvPr id="5" name="Picture 4">
            <a:extLst>
              <a:ext uri="{FF2B5EF4-FFF2-40B4-BE49-F238E27FC236}">
                <a16:creationId xmlns:a16="http://schemas.microsoft.com/office/drawing/2014/main" id="{E4A76E74-088D-799D-CE5C-26C54AEB30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8516" y="2197820"/>
            <a:ext cx="6068570" cy="3308245"/>
          </a:xfrm>
          <a:prstGeom prst="rect">
            <a:avLst/>
          </a:prstGeom>
        </p:spPr>
      </p:pic>
    </p:spTree>
    <p:extLst>
      <p:ext uri="{BB962C8B-B14F-4D97-AF65-F5344CB8AC3E}">
        <p14:creationId xmlns:p14="http://schemas.microsoft.com/office/powerpoint/2010/main" val="3751661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15FB9-8306-E81E-CCFD-AE3FE97CCC82}"/>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Quản lý dữ liệu bằng SQLite</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74D2D9B-8E65-8F31-21AF-F517C4057EAB}"/>
              </a:ext>
            </a:extLst>
          </p:cNvPr>
          <p:cNvSpPr>
            <a:spLocks noGrp="1"/>
          </p:cNvSpPr>
          <p:nvPr>
            <p:ph idx="1"/>
          </p:nvPr>
        </p:nvSpPr>
        <p:spPr>
          <a:xfrm>
            <a:off x="1097280" y="1845734"/>
            <a:ext cx="3927004" cy="4023360"/>
          </a:xfrm>
        </p:spPr>
        <p:txBody>
          <a:bodyPr/>
          <a:lstStyle/>
          <a:p>
            <a:r>
              <a:rPr lang="en-US" dirty="0" err="1">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SQLite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lưu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tin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bao </a:t>
            </a:r>
            <a:r>
              <a:rPr lang="en-US" dirty="0" err="1">
                <a:latin typeface="Arial" panose="020B0604020202020204" pitchFamily="34" charset="0"/>
                <a:cs typeface="Arial" panose="020B0604020202020204" pitchFamily="34" charset="0"/>
              </a:rPr>
              <a:t>gồm</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ID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dùng</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Tên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dung</a:t>
            </a:r>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0E3FD36A-D332-1CAB-91C4-D39E4943D1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5602" y="3754322"/>
            <a:ext cx="3457575" cy="838200"/>
          </a:xfrm>
          <a:prstGeom prst="rect">
            <a:avLst/>
          </a:prstGeom>
        </p:spPr>
      </p:pic>
      <p:pic>
        <p:nvPicPr>
          <p:cNvPr id="9" name="Picture 8">
            <a:extLst>
              <a:ext uri="{FF2B5EF4-FFF2-40B4-BE49-F238E27FC236}">
                <a16:creationId xmlns:a16="http://schemas.microsoft.com/office/drawing/2014/main" id="{4381DA26-F05E-8D87-AE90-543D132B1E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7718" y="3338391"/>
            <a:ext cx="2238375" cy="1257300"/>
          </a:xfrm>
          <a:prstGeom prst="rect">
            <a:avLst/>
          </a:prstGeom>
        </p:spPr>
      </p:pic>
      <p:sp>
        <p:nvSpPr>
          <p:cNvPr id="11" name="TextBox 10">
            <a:extLst>
              <a:ext uri="{FF2B5EF4-FFF2-40B4-BE49-F238E27FC236}">
                <a16:creationId xmlns:a16="http://schemas.microsoft.com/office/drawing/2014/main" id="{46E5097D-1DA5-DE29-ED6C-1692AEEABF84}"/>
              </a:ext>
            </a:extLst>
          </p:cNvPr>
          <p:cNvSpPr txBox="1"/>
          <p:nvPr/>
        </p:nvSpPr>
        <p:spPr>
          <a:xfrm>
            <a:off x="5594553" y="1845734"/>
            <a:ext cx="6263149" cy="1323439"/>
          </a:xfrm>
          <a:prstGeom prst="rect">
            <a:avLst/>
          </a:prstGeom>
          <a:noFill/>
        </p:spPr>
        <p:txBody>
          <a:bodyPr wrap="square">
            <a:spAutoFit/>
          </a:bodyPr>
          <a:lstStyle/>
          <a:p>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SQLite </a:t>
            </a:r>
            <a:r>
              <a:rPr lang="en-US" sz="2000" dirty="0" err="1">
                <a:latin typeface="Arial" panose="020B0604020202020204" pitchFamily="34" charset="0"/>
                <a:cs typeface="Arial" panose="020B0604020202020204" pitchFamily="34" charset="0"/>
              </a:rPr>
              <a:t>giúp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thống</a:t>
            </a:r>
            <a:r>
              <a:rPr lang="en-US" sz="2000" dirty="0">
                <a:latin typeface="Arial" panose="020B0604020202020204" pitchFamily="34" charset="0"/>
                <a:cs typeface="Arial" panose="020B0604020202020204" pitchFamily="34" charset="0"/>
              </a:rPr>
              <a:t>:</a:t>
            </a:r>
          </a:p>
          <a:p>
            <a:r>
              <a:rPr lang="en-US" sz="2000" dirty="0" err="1">
                <a:latin typeface="Arial" panose="020B0604020202020204" pitchFamily="34" charset="0"/>
                <a:cs typeface="Arial" panose="020B0604020202020204" pitchFamily="34" charset="0"/>
              </a:rPr>
              <a:t>Dễ</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dàng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xuất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thông</a:t>
            </a:r>
            <a:r>
              <a:rPr lang="en-US" sz="2000" dirty="0">
                <a:latin typeface="Arial" panose="020B0604020202020204" pitchFamily="34" charset="0"/>
                <a:cs typeface="Arial" panose="020B0604020202020204" pitchFamily="34" charset="0"/>
              </a:rPr>
              <a:t> tin </a:t>
            </a:r>
            <a:r>
              <a:rPr lang="en-US" sz="2000" dirty="0" err="1">
                <a:latin typeface="Arial" panose="020B0604020202020204" pitchFamily="34" charset="0"/>
                <a:cs typeface="Arial" panose="020B0604020202020204" pitchFamily="34" charset="0"/>
              </a:rPr>
              <a:t>khi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nhận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diện</a:t>
            </a:r>
            <a:endParaRPr lang="en-US" sz="2000" dirty="0">
              <a:latin typeface="Arial" panose="020B0604020202020204" pitchFamily="34" charset="0"/>
              <a:cs typeface="Arial" panose="020B0604020202020204" pitchFamily="34" charset="0"/>
            </a:endParaRPr>
          </a:p>
          <a:p>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cần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đặt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quản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sở</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dữ</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phức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tạp</a:t>
            </a:r>
            <a:endParaRPr lang="en-US" sz="2000" dirty="0">
              <a:latin typeface="Arial" panose="020B0604020202020204" pitchFamily="34" charset="0"/>
              <a:cs typeface="Arial" panose="020B0604020202020204" pitchFamily="34" charset="0"/>
            </a:endParaRPr>
          </a:p>
          <a:p>
            <a:r>
              <a:rPr lang="en-US" sz="2000" dirty="0" err="1">
                <a:latin typeface="Arial" panose="020B0604020202020204" pitchFamily="34" charset="0"/>
                <a:cs typeface="Arial" panose="020B0604020202020204" pitchFamily="34" charset="0"/>
              </a:rPr>
              <a:t>Phù</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ứng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mô</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nhỏ</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trung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bình</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361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D204A-5485-2DD8-FD55-3BA293040D2D}"/>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Đánh giá kết quả thực hiện</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EB760DB-00FF-3286-8FC0-389E8FF91F78}"/>
              </a:ext>
            </a:extLst>
          </p:cNvPr>
          <p:cNvSpPr>
            <a:spLocks noGrp="1"/>
          </p:cNvSpPr>
          <p:nvPr>
            <p:ph idx="1"/>
          </p:nvPr>
        </p:nvSpPr>
        <p:spPr/>
        <p:txBody>
          <a:bodyPr/>
          <a:lstStyle/>
          <a:p>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hoàn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điểm</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trễ</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thấp</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Hoạt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ổn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thường</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một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nghiêng</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Phù</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yêu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đồ</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tốt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Tuy </a:t>
            </a:r>
            <a:r>
              <a:rPr lang="en-US" dirty="0" err="1">
                <a:latin typeface="Arial" panose="020B0604020202020204" pitchFamily="34" charset="0"/>
                <a:cs typeface="Arial" panose="020B0604020202020204" pitchFamily="34" charset="0"/>
              </a:rPr>
              <a:t>nhiên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vẫn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còn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quay </a:t>
            </a:r>
            <a:r>
              <a:rPr lang="en-US" dirty="0" err="1">
                <a:latin typeface="Arial" panose="020B0604020202020204" pitchFamily="34" charset="0"/>
                <a:cs typeface="Arial" panose="020B0604020202020204" pitchFamily="34" charset="0"/>
              </a:rPr>
              <a:t>quá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nghiêng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Đây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chung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pháp</a:t>
            </a:r>
            <a:r>
              <a:rPr lang="en-US" dirty="0">
                <a:latin typeface="Arial" panose="020B0604020202020204" pitchFamily="34" charset="0"/>
                <a:cs typeface="Arial" panose="020B0604020202020204" pitchFamily="34" charset="0"/>
              </a:rPr>
              <a:t> Haar Cascade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LBPH</a:t>
            </a:r>
          </a:p>
        </p:txBody>
      </p:sp>
    </p:spTree>
    <p:extLst>
      <p:ext uri="{BB962C8B-B14F-4D97-AF65-F5344CB8AC3E}">
        <p14:creationId xmlns:p14="http://schemas.microsoft.com/office/powerpoint/2010/main" val="39159916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C271A-294C-48E9-82D8-55D105C793C9}"/>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Kết luận chương</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19CB052-50F7-0314-BD7C-7DA6DEC5698D}"/>
              </a:ext>
            </a:extLst>
          </p:cNvPr>
          <p:cNvSpPr>
            <a:spLocks noGrp="1"/>
          </p:cNvSpPr>
          <p:nvPr>
            <p:ph idx="1"/>
          </p:nvPr>
        </p:nvSpPr>
        <p:spPr/>
        <p:txBody>
          <a:bodyPr/>
          <a:lstStyle/>
          <a:p>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3 </a:t>
            </a:r>
            <a:r>
              <a:rPr lang="en-US" dirty="0" err="1">
                <a:latin typeface="Arial" panose="020B0604020202020204" pitchFamily="34" charset="0"/>
                <a:cs typeface="Arial" panose="020B0604020202020204" pitchFamily="34" charset="0"/>
              </a:rPr>
              <a:t>đã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bày</a:t>
            </a:r>
            <a:r>
              <a:rPr lang="en-US" dirty="0">
                <a:latin typeface="Arial" panose="020B0604020202020204" pitchFamily="34" charset="0"/>
                <a:cs typeface="Arial" panose="020B0604020202020204" pitchFamily="34" charset="0"/>
              </a:rPr>
              <a:t> chi </a:t>
            </a:r>
            <a:r>
              <a:rPr lang="en-US" dirty="0" err="1">
                <a:latin typeface="Arial" panose="020B0604020202020204" pitchFamily="34" charset="0"/>
                <a:cs typeface="Arial" panose="020B0604020202020204" pitchFamily="34" charset="0"/>
              </a:rPr>
              <a:t>tiết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hóa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huấn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luyện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Các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thấy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tốt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yêu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tạo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nâng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cấp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tương</a:t>
            </a:r>
            <a:r>
              <a:rPr lang="en-US" dirty="0">
                <a:latin typeface="Arial" panose="020B0604020202020204" pitchFamily="34" charset="0"/>
                <a:cs typeface="Arial" panose="020B0604020202020204" pitchFamily="34" charset="0"/>
              </a:rPr>
              <a:t> lai.</a:t>
            </a:r>
          </a:p>
          <a:p>
            <a:endParaRPr lang="en-US" dirty="0"/>
          </a:p>
        </p:txBody>
      </p:sp>
    </p:spTree>
    <p:extLst>
      <p:ext uri="{BB962C8B-B14F-4D97-AF65-F5344CB8AC3E}">
        <p14:creationId xmlns:p14="http://schemas.microsoft.com/office/powerpoint/2010/main" val="18840005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2E36F-E23F-E89F-2BF1-0B9F001B8643}"/>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CHƯƠNG 4:</a:t>
            </a:r>
            <a:r>
              <a:rPr lang="x-none" sz="4000" b="1" dirty="0">
                <a:latin typeface="Arial" panose="020B0604020202020204" pitchFamily="34" charset="0"/>
                <a:cs typeface="Arial" panose="020B0604020202020204" pitchFamily="34" charset="0"/>
              </a:rPr>
              <a:t>KẾT QUẢ NGHIÊN CỨU</a:t>
            </a:r>
            <a:endParaRPr lang="en-US"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8C9959C-83EC-922E-C99E-4E32C8B1F9FE}"/>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72607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765EB-D2BD-B9CB-149F-B6DD05ABF081}"/>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Kết quả đạt được</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A7FFC9A-F347-5EAC-1F9A-8DD636E9C28C}"/>
              </a:ext>
            </a:extLst>
          </p:cNvPr>
          <p:cNvSpPr>
            <a:spLocks noGrp="1"/>
          </p:cNvSpPr>
          <p:nvPr>
            <p:ph idx="1"/>
          </p:nvPr>
        </p:nvSpPr>
        <p:spPr/>
        <p:txBody>
          <a:bodyPr/>
          <a:lstStyle/>
          <a:p>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-Thu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video </a:t>
            </a:r>
            <a:r>
              <a:rPr lang="en-US" dirty="0" err="1">
                <a:latin typeface="Arial" panose="020B0604020202020204" pitchFamily="34" charset="0"/>
                <a:cs typeface="Arial" panose="020B0604020202020204" pitchFamily="34" charset="0"/>
              </a:rPr>
              <a:t>trực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tiếp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webcam.</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xuất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-Hiển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khung</a:t>
            </a:r>
            <a:r>
              <a:rPr lang="en-US" dirty="0">
                <a:latin typeface="Arial" panose="020B0604020202020204" pitchFamily="34" charset="0"/>
                <a:cs typeface="Arial" panose="020B0604020202020204" pitchFamily="34" charset="0"/>
              </a:rPr>
              <a:t> bao </a:t>
            </a:r>
            <a:r>
              <a:rPr lang="en-US" dirty="0" err="1">
                <a:latin typeface="Arial" panose="020B0604020202020204" pitchFamily="34" charset="0"/>
                <a:cs typeface="Arial" panose="020B0604020202020204" pitchFamily="34" charset="0"/>
              </a:rPr>
              <a:t>quanh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Hoạt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ổn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thường</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7005732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96E0A-D834-9D19-86C9-BEC716E7D282}"/>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Giao diện và chức năng chương trình</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70F0776-DBD2-2E5D-E6FD-C4DC1843BFA8}"/>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Giao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dễ</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Khi </a:t>
            </a:r>
            <a:r>
              <a:rPr lang="en-US" dirty="0" err="1">
                <a:latin typeface="Arial" panose="020B0604020202020204" pitchFamily="34" charset="0"/>
                <a:cs typeface="Arial" panose="020B0604020202020204" pitchFamily="34" charset="0"/>
              </a:rPr>
              <a:t>khởi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webcam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video </a:t>
            </a:r>
            <a:r>
              <a:rPr lang="en-US" dirty="0" err="1">
                <a:latin typeface="Arial" panose="020B0604020202020204" pitchFamily="34" charset="0"/>
                <a:cs typeface="Arial" panose="020B0604020202020204" pitchFamily="34" charset="0"/>
              </a:rPr>
              <a:t>trên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màn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Khi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nhật</a:t>
            </a:r>
            <a:r>
              <a:rPr lang="en-US" dirty="0">
                <a:latin typeface="Arial" panose="020B0604020202020204" pitchFamily="34" charset="0"/>
                <a:cs typeface="Arial" panose="020B0604020202020204" pitchFamily="34" charset="0"/>
              </a:rPr>
              <a:t> bao </a:t>
            </a:r>
            <a:r>
              <a:rPr lang="en-US" dirty="0" err="1">
                <a:latin typeface="Arial" panose="020B0604020202020204" pitchFamily="34" charset="0"/>
                <a:cs typeface="Arial" panose="020B0604020202020204" pitchFamily="34" charset="0"/>
              </a:rPr>
              <a:t>quanh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dễ</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sát</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Các </a:t>
            </a:r>
            <a:r>
              <a:rPr lang="en-US" dirty="0" err="1">
                <a:latin typeface="Arial" panose="020B0604020202020204" pitchFamily="34" charset="0"/>
                <a:cs typeface="Arial" panose="020B0604020202020204" pitchFamily="34" charset="0"/>
              </a:rPr>
              <a:t>chức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bao </a:t>
            </a:r>
            <a:r>
              <a:rPr lang="en-US" dirty="0" err="1">
                <a:latin typeface="Arial" panose="020B0604020202020204" pitchFamily="34" charset="0"/>
                <a:cs typeface="Arial" panose="020B0604020202020204" pitchFamily="34" charset="0"/>
              </a:rPr>
              <a:t>gồm</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Bật</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tắt</a:t>
            </a:r>
            <a:r>
              <a:rPr lang="en-US" dirty="0">
                <a:latin typeface="Arial" panose="020B0604020202020204" pitchFamily="34" charset="0"/>
                <a:cs typeface="Arial" panose="020B0604020202020204" pitchFamily="34" charset="0"/>
              </a:rPr>
              <a:t> webcam.</a:t>
            </a:r>
          </a:p>
          <a:p>
            <a:r>
              <a:rPr lang="en-US" dirty="0">
                <a:latin typeface="Arial" panose="020B0604020202020204" pitchFamily="34" charset="0"/>
                <a:cs typeface="Arial" panose="020B0604020202020204" pitchFamily="34" charset="0"/>
              </a:rPr>
              <a:t>-Hiển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Thoát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yêu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cầu</a:t>
            </a:r>
            <a:r>
              <a:rPr lang="en-US"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12451903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E0A5B-A830-8157-2A01-0641A9AC3393}"/>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Đánh giá hiệu năng hệ thống</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C8FACFD-C4AF-7084-99C9-750784B32A33}"/>
              </a:ext>
            </a:extLst>
          </p:cNvPr>
          <p:cNvSpPr>
            <a:spLocks noGrp="1"/>
          </p:cNvSpPr>
          <p:nvPr>
            <p:ph idx="1"/>
          </p:nvPr>
        </p:nvSpPr>
        <p:spPr/>
        <p:txBody>
          <a:bodyPr/>
          <a:lstStyle/>
          <a:p>
            <a:r>
              <a:rPr lang="x-none" b="1" dirty="0"/>
              <a:t>Tốc độ xử lý</a:t>
            </a:r>
            <a:endParaRPr lang="en-US" b="1" dirty="0"/>
          </a:p>
          <a:p>
            <a:r>
              <a:rPr lang="en-US" dirty="0" err="1"/>
              <a:t>Chương</a:t>
            </a:r>
            <a:r>
              <a:rPr lang="en-US" dirty="0"/>
              <a:t> </a:t>
            </a:r>
            <a:r>
              <a:rPr lang="en-US" dirty="0" err="1"/>
              <a:t>trình</a:t>
            </a:r>
            <a:r>
              <a:rPr lang="en-US" dirty="0"/>
              <a:t> </a:t>
            </a:r>
            <a:r>
              <a:rPr lang="en-US" dirty="0" err="1"/>
              <a:t>có</a:t>
            </a:r>
            <a:r>
              <a:rPr lang="en-US" dirty="0"/>
              <a:t> </a:t>
            </a:r>
            <a:r>
              <a:rPr lang="en-US" dirty="0" err="1"/>
              <a:t>tốc</a:t>
            </a:r>
            <a:r>
              <a:rPr lang="en-US" dirty="0"/>
              <a:t> </a:t>
            </a:r>
            <a:r>
              <a:rPr lang="en-US" dirty="0" err="1"/>
              <a:t>độ</a:t>
            </a:r>
            <a:r>
              <a:rPr lang="en-US" dirty="0"/>
              <a:t> </a:t>
            </a:r>
            <a:r>
              <a:rPr lang="en-US" dirty="0" err="1"/>
              <a:t>xử</a:t>
            </a:r>
            <a:r>
              <a:rPr lang="en-US" dirty="0"/>
              <a:t> </a:t>
            </a:r>
            <a:r>
              <a:rPr lang="en-US" dirty="0" err="1"/>
              <a:t>lý</a:t>
            </a:r>
            <a:r>
              <a:rPr lang="en-US" dirty="0"/>
              <a:t> </a:t>
            </a:r>
            <a:r>
              <a:rPr lang="en-US" dirty="0" err="1"/>
              <a:t>tương</a:t>
            </a:r>
            <a:r>
              <a:rPr lang="en-US" dirty="0"/>
              <a:t> </a:t>
            </a:r>
            <a:r>
              <a:rPr lang="en-US" dirty="0" err="1"/>
              <a:t>đối</a:t>
            </a:r>
            <a:r>
              <a:rPr lang="en-US" dirty="0"/>
              <a:t> </a:t>
            </a:r>
            <a:r>
              <a:rPr lang="en-US" dirty="0" err="1"/>
              <a:t>nhanh</a:t>
            </a:r>
            <a:r>
              <a:rPr lang="en-US" dirty="0"/>
              <a:t>, </a:t>
            </a:r>
            <a:r>
              <a:rPr lang="en-US" dirty="0" err="1"/>
              <a:t>đảm</a:t>
            </a:r>
            <a:r>
              <a:rPr lang="en-US" dirty="0"/>
              <a:t> </a:t>
            </a:r>
            <a:r>
              <a:rPr lang="en-US" dirty="0" err="1"/>
              <a:t>bảo</a:t>
            </a:r>
            <a:r>
              <a:rPr lang="en-US" dirty="0"/>
              <a:t> </a:t>
            </a:r>
            <a:r>
              <a:rPr lang="en-US" dirty="0" err="1"/>
              <a:t>hiển</a:t>
            </a:r>
            <a:r>
              <a:rPr lang="en-US" dirty="0"/>
              <a:t> </a:t>
            </a:r>
            <a:r>
              <a:rPr lang="en-US" dirty="0" err="1"/>
              <a:t>thị</a:t>
            </a:r>
            <a:r>
              <a:rPr lang="en-US" dirty="0"/>
              <a:t> </a:t>
            </a:r>
            <a:r>
              <a:rPr lang="en-US" dirty="0" err="1"/>
              <a:t>hình</a:t>
            </a:r>
            <a:r>
              <a:rPr lang="en-US" dirty="0"/>
              <a:t> </a:t>
            </a:r>
            <a:r>
              <a:rPr lang="en-US" dirty="0" err="1"/>
              <a:t>ảnh</a:t>
            </a:r>
            <a:r>
              <a:rPr lang="en-US" dirty="0"/>
              <a:t> video </a:t>
            </a:r>
            <a:r>
              <a:rPr lang="en-US" dirty="0" err="1"/>
              <a:t>mượt</a:t>
            </a:r>
            <a:r>
              <a:rPr lang="en-US" dirty="0"/>
              <a:t> </a:t>
            </a:r>
            <a:r>
              <a:rPr lang="en-US" dirty="0" err="1"/>
              <a:t>mà</a:t>
            </a:r>
            <a:r>
              <a:rPr lang="en-US" dirty="0"/>
              <a:t>. Trong </a:t>
            </a:r>
            <a:r>
              <a:rPr lang="en-US" dirty="0" err="1"/>
              <a:t>điều</a:t>
            </a:r>
            <a:r>
              <a:rPr lang="en-US" dirty="0"/>
              <a:t> </a:t>
            </a:r>
            <a:r>
              <a:rPr lang="en-US" dirty="0" err="1"/>
              <a:t>kiện</a:t>
            </a:r>
            <a:r>
              <a:rPr lang="en-US" dirty="0"/>
              <a:t> </a:t>
            </a:r>
            <a:r>
              <a:rPr lang="en-US" dirty="0" err="1"/>
              <a:t>máy</a:t>
            </a:r>
            <a:r>
              <a:rPr lang="en-US" dirty="0"/>
              <a:t> </a:t>
            </a:r>
            <a:r>
              <a:rPr lang="en-US" dirty="0" err="1"/>
              <a:t>tính</a:t>
            </a:r>
            <a:r>
              <a:rPr lang="en-US" dirty="0"/>
              <a:t> </a:t>
            </a:r>
            <a:r>
              <a:rPr lang="en-US" dirty="0" err="1"/>
              <a:t>cá</a:t>
            </a:r>
            <a:r>
              <a:rPr lang="en-US" dirty="0"/>
              <a:t> </a:t>
            </a:r>
            <a:r>
              <a:rPr lang="en-US" dirty="0" err="1"/>
              <a:t>nhân</a:t>
            </a:r>
            <a:r>
              <a:rPr lang="en-US" dirty="0"/>
              <a:t> </a:t>
            </a:r>
            <a:r>
              <a:rPr lang="en-US" dirty="0" err="1"/>
              <a:t>thông</a:t>
            </a:r>
            <a:r>
              <a:rPr lang="en-US" dirty="0"/>
              <a:t> </a:t>
            </a:r>
            <a:r>
              <a:rPr lang="en-US" dirty="0" err="1"/>
              <a:t>thường</a:t>
            </a:r>
            <a:r>
              <a:rPr lang="en-US" dirty="0"/>
              <a:t>, </a:t>
            </a:r>
            <a:r>
              <a:rPr lang="en-US" dirty="0" err="1"/>
              <a:t>hệ</a:t>
            </a:r>
            <a:r>
              <a:rPr lang="en-US" dirty="0"/>
              <a:t> </a:t>
            </a:r>
            <a:r>
              <a:rPr lang="en-US" dirty="0" err="1"/>
              <a:t>thống</a:t>
            </a:r>
            <a:r>
              <a:rPr lang="en-US" dirty="0"/>
              <a:t> </a:t>
            </a:r>
            <a:r>
              <a:rPr lang="en-US" dirty="0" err="1"/>
              <a:t>có</a:t>
            </a:r>
            <a:r>
              <a:rPr lang="en-US" dirty="0"/>
              <a:t> </a:t>
            </a:r>
            <a:r>
              <a:rPr lang="en-US" dirty="0" err="1"/>
              <a:t>thể</a:t>
            </a:r>
            <a:r>
              <a:rPr lang="en-US" dirty="0"/>
              <a:t> </a:t>
            </a:r>
            <a:r>
              <a:rPr lang="en-US" dirty="0" err="1"/>
              <a:t>xử</a:t>
            </a:r>
            <a:r>
              <a:rPr lang="en-US" dirty="0"/>
              <a:t> </a:t>
            </a:r>
            <a:r>
              <a:rPr lang="en-US" dirty="0" err="1"/>
              <a:t>lý</a:t>
            </a:r>
            <a:r>
              <a:rPr lang="en-US" dirty="0"/>
              <a:t> video </a:t>
            </a:r>
            <a:r>
              <a:rPr lang="en-US" dirty="0" err="1"/>
              <a:t>gần</a:t>
            </a:r>
            <a:r>
              <a:rPr lang="en-US" dirty="0"/>
              <a:t> </a:t>
            </a:r>
            <a:r>
              <a:rPr lang="en-US" dirty="0" err="1"/>
              <a:t>với</a:t>
            </a:r>
            <a:r>
              <a:rPr lang="en-US" dirty="0"/>
              <a:t> </a:t>
            </a:r>
            <a:r>
              <a:rPr lang="en-US" dirty="0" err="1"/>
              <a:t>thời</a:t>
            </a:r>
            <a:r>
              <a:rPr lang="en-US" dirty="0"/>
              <a:t> </a:t>
            </a:r>
            <a:r>
              <a:rPr lang="en-US" dirty="0" err="1"/>
              <a:t>gian</a:t>
            </a:r>
            <a:r>
              <a:rPr lang="en-US" dirty="0"/>
              <a:t> </a:t>
            </a:r>
            <a:r>
              <a:rPr lang="en-US" dirty="0" err="1"/>
              <a:t>thực</a:t>
            </a:r>
            <a:r>
              <a:rPr lang="en-US" dirty="0"/>
              <a:t> </a:t>
            </a:r>
            <a:r>
              <a:rPr lang="en-US" dirty="0" err="1"/>
              <a:t>mà</a:t>
            </a:r>
            <a:r>
              <a:rPr lang="en-US" dirty="0"/>
              <a:t> </a:t>
            </a:r>
            <a:r>
              <a:rPr lang="en-US" dirty="0" err="1"/>
              <a:t>không</a:t>
            </a:r>
            <a:r>
              <a:rPr lang="en-US" dirty="0"/>
              <a:t> </a:t>
            </a:r>
            <a:r>
              <a:rPr lang="en-US" dirty="0" err="1"/>
              <a:t>xảy</a:t>
            </a:r>
            <a:r>
              <a:rPr lang="en-US" dirty="0"/>
              <a:t> </a:t>
            </a:r>
            <a:r>
              <a:rPr lang="en-US" dirty="0" err="1"/>
              <a:t>ra</a:t>
            </a:r>
            <a:r>
              <a:rPr lang="en-US" dirty="0"/>
              <a:t> </a:t>
            </a:r>
            <a:r>
              <a:rPr lang="en-US" dirty="0" err="1"/>
              <a:t>hiện</a:t>
            </a:r>
            <a:r>
              <a:rPr lang="en-US" dirty="0"/>
              <a:t> </a:t>
            </a:r>
            <a:r>
              <a:rPr lang="en-US" dirty="0" err="1"/>
              <a:t>tượng</a:t>
            </a:r>
            <a:r>
              <a:rPr lang="en-US" dirty="0"/>
              <a:t> </a:t>
            </a:r>
            <a:r>
              <a:rPr lang="en-US" dirty="0" err="1"/>
              <a:t>giật</a:t>
            </a:r>
            <a:r>
              <a:rPr lang="en-US" dirty="0"/>
              <a:t>, lag </a:t>
            </a:r>
            <a:r>
              <a:rPr lang="en-US" dirty="0" err="1"/>
              <a:t>đáng</a:t>
            </a:r>
            <a:r>
              <a:rPr lang="en-US" dirty="0"/>
              <a:t> </a:t>
            </a:r>
            <a:r>
              <a:rPr lang="en-US" dirty="0" err="1"/>
              <a:t>kể</a:t>
            </a:r>
            <a:r>
              <a:rPr lang="en-US" dirty="0"/>
              <a:t>.</a:t>
            </a:r>
          </a:p>
          <a:p>
            <a:endParaRPr lang="en-US" dirty="0"/>
          </a:p>
        </p:txBody>
      </p:sp>
    </p:spTree>
    <p:extLst>
      <p:ext uri="{BB962C8B-B14F-4D97-AF65-F5344CB8AC3E}">
        <p14:creationId xmlns:p14="http://schemas.microsoft.com/office/powerpoint/2010/main" val="39229996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91357-6C02-8235-9D15-09E613D63F06}"/>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Đánh giá hiệu năng hệ thống</a:t>
            </a:r>
            <a:endParaRPr lang="en-US" sz="3600" dirty="0"/>
          </a:p>
        </p:txBody>
      </p:sp>
      <p:sp>
        <p:nvSpPr>
          <p:cNvPr id="3" name="Content Placeholder 2">
            <a:extLst>
              <a:ext uri="{FF2B5EF4-FFF2-40B4-BE49-F238E27FC236}">
                <a16:creationId xmlns:a16="http://schemas.microsoft.com/office/drawing/2014/main" id="{5B6F2C8C-1F30-009D-30F9-DCCFB3B5BB1A}"/>
              </a:ext>
            </a:extLst>
          </p:cNvPr>
          <p:cNvSpPr>
            <a:spLocks noGrp="1"/>
          </p:cNvSpPr>
          <p:nvPr>
            <p:ph idx="1"/>
          </p:nvPr>
        </p:nvSpPr>
        <p:spPr/>
        <p:txBody>
          <a:bodyPr/>
          <a:lstStyle/>
          <a:p>
            <a:r>
              <a:rPr lang="en-US" b="1" dirty="0" err="1">
                <a:latin typeface="Arial" panose="020B0604020202020204" pitchFamily="34" charset="0"/>
                <a:cs typeface="Arial" panose="020B0604020202020204" pitchFamily="34" charset="0"/>
              </a:rPr>
              <a:t>Độ</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chính</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xác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phát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hiện</a:t>
            </a:r>
            <a:endParaRPr lang="en-US" b="1"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Thuật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 Haar Cascade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tốt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ổn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nhìn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Tuy </a:t>
            </a:r>
            <a:r>
              <a:rPr lang="en-US" dirty="0" err="1">
                <a:latin typeface="Arial" panose="020B0604020202020204" pitchFamily="34" charset="0"/>
                <a:cs typeface="Arial" panose="020B0604020202020204" pitchFamily="34" charset="0"/>
              </a:rPr>
              <a:t>nhiên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yếu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một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xu </a:t>
            </a:r>
            <a:r>
              <a:rPr lang="en-US" dirty="0" err="1">
                <a:latin typeface="Arial" panose="020B0604020202020204" pitchFamily="34" charset="0"/>
                <a:cs typeface="Arial" panose="020B0604020202020204" pitchFamily="34" charset="0"/>
              </a:rPr>
              <a:t>hướng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giảm</a:t>
            </a:r>
            <a:r>
              <a:rPr lang="en-US"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16172950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6E884-CE38-E2D4-402C-12C5764B53F1}"/>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Đánh giá hiệu năng hệ thống</a:t>
            </a:r>
            <a:endParaRPr lang="en-US" sz="3600" dirty="0"/>
          </a:p>
        </p:txBody>
      </p:sp>
      <p:sp>
        <p:nvSpPr>
          <p:cNvPr id="3" name="Content Placeholder 2">
            <a:extLst>
              <a:ext uri="{FF2B5EF4-FFF2-40B4-BE49-F238E27FC236}">
                <a16:creationId xmlns:a16="http://schemas.microsoft.com/office/drawing/2014/main" id="{221726B2-779C-BD02-180F-1292E2AACB74}"/>
              </a:ext>
            </a:extLst>
          </p:cNvPr>
          <p:cNvSpPr>
            <a:spLocks noGrp="1"/>
          </p:cNvSpPr>
          <p:nvPr>
            <p:ph idx="1"/>
          </p:nvPr>
        </p:nvSpPr>
        <p:spPr/>
        <p:txBody>
          <a:bodyPr/>
          <a:lstStyle/>
          <a:p>
            <a:r>
              <a:rPr lang="x-none" b="1" dirty="0">
                <a:latin typeface="Arial" panose="020B0604020202020204" pitchFamily="34" charset="0"/>
                <a:cs typeface="Arial" panose="020B0604020202020204" pitchFamily="34" charset="0"/>
              </a:rPr>
              <a:t>Trải nghiệm người dùng</a:t>
            </a:r>
            <a:endParaRPr lang="en-US" b="1"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góc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yêu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chỉ</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khởi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ngay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tức</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Giao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giúp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dễ</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dõi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Tuy </a:t>
            </a:r>
            <a:r>
              <a:rPr lang="en-US" dirty="0" err="1">
                <a:latin typeface="Arial" panose="020B0604020202020204" pitchFamily="34" charset="0"/>
                <a:cs typeface="Arial" panose="020B0604020202020204" pitchFamily="34" charset="0"/>
              </a:rPr>
              <a:t>nhiên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đồ</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họa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chuyên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đây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tương</a:t>
            </a:r>
            <a:r>
              <a:rPr lang="en-US" dirty="0">
                <a:latin typeface="Arial" panose="020B0604020202020204" pitchFamily="34" charset="0"/>
                <a:cs typeface="Arial" panose="020B0604020202020204" pitchFamily="34" charset="0"/>
              </a:rPr>
              <a:t> lai.</a:t>
            </a:r>
          </a:p>
          <a:p>
            <a:endParaRPr lang="en-US" b="1"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1584294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3CC04-7E10-8435-7C91-C0A33C86A154}"/>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Đánh giá hiệu năng hệ thống</a:t>
            </a:r>
            <a:endParaRPr lang="en-US" sz="3600" dirty="0"/>
          </a:p>
        </p:txBody>
      </p:sp>
      <p:sp>
        <p:nvSpPr>
          <p:cNvPr id="3" name="Content Placeholder 2">
            <a:extLst>
              <a:ext uri="{FF2B5EF4-FFF2-40B4-BE49-F238E27FC236}">
                <a16:creationId xmlns:a16="http://schemas.microsoft.com/office/drawing/2014/main" id="{7F8118C3-04EA-6433-6069-E57E6883539C}"/>
              </a:ext>
            </a:extLst>
          </p:cNvPr>
          <p:cNvSpPr>
            <a:spLocks noGrp="1"/>
          </p:cNvSpPr>
          <p:nvPr>
            <p:ph idx="1"/>
          </p:nvPr>
        </p:nvSpPr>
        <p:spPr/>
        <p:txBody>
          <a:bodyPr/>
          <a:lstStyle/>
          <a:p>
            <a:r>
              <a:rPr lang="x-none" b="1" dirty="0">
                <a:latin typeface="Arial" panose="020B0604020202020204" pitchFamily="34" charset="0"/>
                <a:cs typeface="Arial" panose="020B0604020202020204" pitchFamily="34" charset="0"/>
              </a:rPr>
              <a:t>Nhận xét và đánh giá tổng quát</a:t>
            </a:r>
            <a:endParaRPr lang="en-US" b="1"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Nhìn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chung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cứu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thấy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mục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tiêu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ra</a:t>
            </a:r>
            <a:r>
              <a:rPr lang="en-US" dirty="0">
                <a:latin typeface="Arial" panose="020B0604020202020204" pitchFamily="34" charset="0"/>
                <a:cs typeface="Arial" panose="020B0604020202020204" pitchFamily="34" charset="0"/>
              </a:rPr>
              <a:t> ban </a:t>
            </a:r>
            <a:r>
              <a:rPr lang="en-US" dirty="0" err="1">
                <a:latin typeface="Arial" panose="020B0604020202020204" pitchFamily="34" charset="0"/>
                <a:cs typeface="Arial" panose="020B0604020202020204" pitchFamily="34" charset="0"/>
              </a:rPr>
              <a:t>đầu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webcam </a:t>
            </a:r>
            <a:r>
              <a:rPr lang="en-US" dirty="0" err="1">
                <a:latin typeface="Arial" panose="020B0604020202020204" pitchFamily="34" charset="0"/>
                <a:cs typeface="Arial" panose="020B0604020202020204" pitchFamily="34" charset="0"/>
              </a:rPr>
              <a:t>hoạt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ổn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tốt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yêu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một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bản</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Bên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những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vẫn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còn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một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trường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Những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này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hướng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cứu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tiếp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tài</a:t>
            </a:r>
            <a:endParaRPr lang="en-US"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3062527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4EEDE-0008-DF53-4718-66BD6AAB29C4}"/>
              </a:ext>
            </a:extLst>
          </p:cNvPr>
          <p:cNvSpPr>
            <a:spLocks noGrp="1"/>
          </p:cNvSpPr>
          <p:nvPr>
            <p:ph type="title"/>
          </p:nvPr>
        </p:nvSpPr>
        <p:spPr>
          <a:xfrm>
            <a:off x="707923" y="286603"/>
            <a:ext cx="10972799" cy="1450757"/>
          </a:xfrm>
        </p:spPr>
        <p:txBody>
          <a:bodyPr>
            <a:normAutofit/>
          </a:bodyPr>
          <a:lstStyle/>
          <a:p>
            <a:r>
              <a:rPr lang="en-US" sz="3600" b="1" dirty="0">
                <a:latin typeface="Arial" panose="020B0604020202020204" pitchFamily="34" charset="0"/>
                <a:cs typeface="Arial" panose="020B0604020202020204" pitchFamily="34" charset="0"/>
              </a:rPr>
              <a:t>CHƯƠNG 5:KẾT LUẬN VÀ HƯỚNG PHÁT TRIỂN</a:t>
            </a:r>
          </a:p>
        </p:txBody>
      </p:sp>
      <p:sp>
        <p:nvSpPr>
          <p:cNvPr id="3" name="Content Placeholder 2">
            <a:extLst>
              <a:ext uri="{FF2B5EF4-FFF2-40B4-BE49-F238E27FC236}">
                <a16:creationId xmlns:a16="http://schemas.microsoft.com/office/drawing/2014/main" id="{283FCF68-1DA8-5F20-C773-42C9038F8781}"/>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5845500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35285-05D8-93E2-6B42-F03F6A5FE48C}"/>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Kết luận</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0754B23-524F-B7C6-2A78-6C4E1CD3C4BF}"/>
              </a:ext>
            </a:extLst>
          </p:cNvPr>
          <p:cNvSpPr>
            <a:spLocks noGrp="1"/>
          </p:cNvSpPr>
          <p:nvPr>
            <p:ph idx="1"/>
          </p:nvPr>
        </p:nvSpPr>
        <p:spPr/>
        <p:txBody>
          <a:bodyPr/>
          <a:lstStyle/>
          <a:p>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thấy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ổn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thường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phòng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học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phòng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 Haar Cascade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 LBPH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đoạn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tốt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vừa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nhỏ</a:t>
            </a:r>
            <a:r>
              <a:rPr lang="en-US"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37542615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627F8-7DAB-4B1A-F6BD-FB3023393EC6}"/>
              </a:ext>
            </a:extLst>
          </p:cNvPr>
          <p:cNvSpPr>
            <a:spLocks noGrp="1"/>
          </p:cNvSpPr>
          <p:nvPr>
            <p:ph type="title"/>
          </p:nvPr>
        </p:nvSpPr>
        <p:spPr/>
        <p:txBody>
          <a:bodyPr>
            <a:normAutofit/>
          </a:bodyPr>
          <a:lstStyle/>
          <a:p>
            <a:r>
              <a:rPr lang="x-none" sz="3600" b="1" dirty="0">
                <a:latin typeface="Arial" panose="020B0604020202020204" pitchFamily="34" charset="0"/>
                <a:cs typeface="Arial" panose="020B0604020202020204" pitchFamily="34" charset="0"/>
              </a:rPr>
              <a:t>Hướng phát triển</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A0F06D1-5E10-5F51-55E4-F5846761DACE}"/>
              </a:ext>
            </a:extLst>
          </p:cNvPr>
          <p:cNvSpPr>
            <a:spLocks noGrp="1"/>
          </p:cNvSpPr>
          <p:nvPr>
            <p:ph idx="1"/>
          </p:nvPr>
        </p:nvSpPr>
        <p:spPr/>
        <p:txBody>
          <a:bodyPr>
            <a:normAutofit/>
          </a:bodyPr>
          <a:lstStyle/>
          <a:p>
            <a:r>
              <a:rPr lang="en-US" dirty="0">
                <a:latin typeface="Arial" panose="020B0604020202020204" pitchFamily="34" charset="0"/>
                <a:cs typeface="Arial" panose="020B0604020202020204" pitchFamily="34" charset="0"/>
              </a:rPr>
              <a:t>Trong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tiếp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tục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hướng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sau</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học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sâu</a:t>
            </a:r>
            <a:r>
              <a:rPr lang="en-US" dirty="0">
                <a:latin typeface="Arial" panose="020B0604020202020204" pitchFamily="34" charset="0"/>
                <a:cs typeface="Arial" panose="020B0604020202020204" pitchFamily="34" charset="0"/>
              </a:rPr>
              <a:t> (Deep Learning).</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khuôn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hơn</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huấn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luyện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lượng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lớn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hơn</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Cải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dung.</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Tích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tế</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Nghiên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cứu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tảng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nhúng</a:t>
            </a:r>
            <a:r>
              <a:rPr lang="en-US"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93207629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70</TotalTime>
  <Words>3123</Words>
  <Application>Microsoft Office PowerPoint</Application>
  <PresentationFormat>Widescreen</PresentationFormat>
  <Paragraphs>220</Paragraphs>
  <Slides>44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Calibri Light</vt:lpstr>
      <vt:lpstr>Retrospect</vt:lpstr>
      <vt:lpstr>Tìm hiểu và ứng dụng OpenCV  trong phát hiện khuôn mặt từ webcam </vt:lpstr>
      <vt:lpstr>NỘI DUNG TRÌNH BÀY</vt:lpstr>
      <vt:lpstr>CHƯƠNG 1:TỔNG QUAN</vt:lpstr>
      <vt:lpstr> Đặt vấn đề </vt:lpstr>
      <vt:lpstr>Mục đích nghiên cứu</vt:lpstr>
      <vt:lpstr>CHƯƠNG 2:NGHIÊN CỨU LÝ THUYẾT</vt:lpstr>
      <vt:lpstr>Tổng quan về thị giác máy tính</vt:lpstr>
      <vt:lpstr>Tổng quan về thị giác máy tính</vt:lpstr>
      <vt:lpstr>Tổng quan về thị giác máy tính</vt:lpstr>
      <vt:lpstr>Tổng quan về thị giác máy tính</vt:lpstr>
      <vt:lpstr>Tổng quan về xử lý ảnh số</vt:lpstr>
      <vt:lpstr>Giới thiệu thư viện OpenCV </vt:lpstr>
      <vt:lpstr>Giới thiệu thư viện OpenCV </vt:lpstr>
      <vt:lpstr>Giới thiệu thư viện OpenCV </vt:lpstr>
      <vt:lpstr>Giới thiệu thư viện OpenCV</vt:lpstr>
      <vt:lpstr>Thuật toán phát hiện khuôn mặt Haar Cascade</vt:lpstr>
      <vt:lpstr>Thuật toán phát hiện khuôn mặt Haar Cascade</vt:lpstr>
      <vt:lpstr>Giả thiết khoa học của đề tài</vt:lpstr>
      <vt:lpstr>Phương pháp nghiên cứu</vt:lpstr>
      <vt:lpstr>CHƯƠNG 3:HIỆN THỰC HÓA NGHIÊN CỨU</vt:lpstr>
      <vt:lpstr>Tổng quan quá trình hiện thực hóa</vt:lpstr>
      <vt:lpstr>Thu thập dữ liệu khuôn mặt</vt:lpstr>
      <vt:lpstr>Thu thập dữ liệu khuôn mặt</vt:lpstr>
      <vt:lpstr>Thu thập dữ liệu khuôn mặt</vt:lpstr>
      <vt:lpstr>Huấn luyện mô hình nhận diện khuôn mặt</vt:lpstr>
      <vt:lpstr>Huấn luyện mô hình nhận diện khuôn mặt</vt:lpstr>
      <vt:lpstr>Huấn luyện mô hình nhận diện khuôn mặt</vt:lpstr>
      <vt:lpstr>Huấn luyện mô hình nhận diện khuôn mặt</vt:lpstr>
      <vt:lpstr>Nhận diện khuôn mặt thời gian thực</vt:lpstr>
      <vt:lpstr>Nhận diện khuôn mặt thời gian thực</vt:lpstr>
      <vt:lpstr>Nhận diện khuôn mặt thời gian thực</vt:lpstr>
      <vt:lpstr>Quản lý dữ liệu bằng SQLite</vt:lpstr>
      <vt:lpstr>Đánh giá kết quả thực hiện</vt:lpstr>
      <vt:lpstr>Kết luận chương</vt:lpstr>
      <vt:lpstr>CHƯƠNG 4:KẾT QUẢ NGHIÊN CỨU</vt:lpstr>
      <vt:lpstr>Kết quả đạt được</vt:lpstr>
      <vt:lpstr>Giao diện và chức năng chương trình</vt:lpstr>
      <vt:lpstr>Đánh giá hiệu năng hệ thống</vt:lpstr>
      <vt:lpstr>Đánh giá hiệu năng hệ thống</vt:lpstr>
      <vt:lpstr>Đánh giá hiệu năng hệ thống</vt:lpstr>
      <vt:lpstr>Đánh giá hiệu năng hệ thống</vt:lpstr>
      <vt:lpstr>CHƯƠNG 5:KẾT LUẬN VÀ HƯỚNG PHÁT TRIỂN</vt:lpstr>
      <vt:lpstr>Kết luận</vt:lpstr>
      <vt:lpstr>Hướng phát triển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Bao Truong</dc:creator>
  <cp:lastModifiedBy>Thanh Bao Truong</cp:lastModifiedBy>
  <cp:revision>2</cp:revision>
  <dcterms:created xsi:type="dcterms:W3CDTF">2026-01-04T19:44:58Z</dcterms:created>
  <dcterms:modified xsi:type="dcterms:W3CDTF">2026-01-04T20:55:06Z</dcterms:modified>
</cp:coreProperties>
</file>