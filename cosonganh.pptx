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2" r:id="rId4"/>
    <p:sldId id="258" r:id="rId5"/>
    <p:sldId id="259" r:id="rId6"/>
    <p:sldId id="271" r:id="rId7"/>
    <p:sldId id="260" r:id="rId8"/>
    <p:sldId id="261" r:id="rId9"/>
    <p:sldId id="262" r:id="rId10"/>
    <p:sldId id="270" r:id="rId11"/>
    <p:sldId id="273" r:id="rId12"/>
    <p:sldId id="263" r:id="rId13"/>
    <p:sldId id="264" r:id="rId14"/>
    <p:sldId id="265" r:id="rId15"/>
    <p:sldId id="266" r:id="rId16"/>
    <p:sldId id="267" r:id="rId17"/>
    <p:sldId id="274" r:id="rId18"/>
    <p:sldId id="268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0233E-43A8-4870-9DEC-1C669C6C5E8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1EAC5-66A7-4060-B82C-0A16C00808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755990" y="2697164"/>
            <a:ext cx="1087447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Tìm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OpenCV </a:t>
            </a:r>
            <a:b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webcam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365522" y="5202238"/>
            <a:ext cx="387391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Sinh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Họ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tên:Trương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Thanh Bảo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Lớp:DA23TTB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MSSV:110123074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85266" y="19305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ĐỒ ÁN CƠ SỞ NGÀNH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0686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CHƯƠNG 1:TỔNG QUAN</a:t>
            </a:r>
            <a:endParaRPr lang="en-US" sz="40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GIỚI THIỆU ĐỀ TÀI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2326"/>
            <a:ext cx="63865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Tìm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OpenCV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webcam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Tìm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OpenCV,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OpenCV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	  	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giám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minh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lai.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765" y="2763296"/>
            <a:ext cx="4464795" cy="26377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ĐẶT VẤN ĐỀ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69373" y="1471659"/>
            <a:ext cx="10921181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bối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tuệ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mẽ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ngày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càng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ninh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giám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trắc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khuôn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mặt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nền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khuôn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mặt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ninh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CHƯƠNG 2:</a:t>
            </a:r>
            <a:r>
              <a:rPr lang="vi-VN" sz="4000" b="1" dirty="0">
                <a:latin typeface="Arial" panose="020B0604020202020204" pitchFamily="34" charset="0"/>
                <a:cs typeface="Arial" panose="020B0604020202020204" pitchFamily="34" charset="0"/>
              </a:rPr>
              <a:t>CƠ SỞ LÝ THUYẾT</a:t>
            </a:r>
            <a:endParaRPr 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157" y="1496994"/>
            <a:ext cx="5361006" cy="5361006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THỊ </a:t>
            </a:r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GIÁC MÁY TÍNH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536798"/>
            <a:ext cx="11847871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Thị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(Computer vision)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tuệ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(AI)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video,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nhằm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(pixel),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cường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màu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sắc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-Thu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Trích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455" y="3467841"/>
            <a:ext cx="4314092" cy="31097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200" b="1" dirty="0">
                <a:latin typeface="Arial" panose="020B0604020202020204" pitchFamily="34" charset="0"/>
                <a:cs typeface="Arial" panose="020B0604020202020204" pitchFamily="34" charset="0"/>
              </a:rPr>
              <a:t>THƯ VIỆN OPENCV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8395" y="1937758"/>
            <a:ext cx="10875209" cy="3390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OpenCV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tắt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Open-Source Computer Vision Library)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Công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video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OpenCV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Ứng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khuôn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mặt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đối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tượng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-Theo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dõi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687" y="3845666"/>
            <a:ext cx="2445738" cy="3012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442" y="374957"/>
            <a:ext cx="11511116" cy="1325563"/>
          </a:xfrm>
        </p:spPr>
        <p:txBody>
          <a:bodyPr>
            <a:normAutofit/>
          </a:bodyPr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THUẬT TOÁN PHÁT HIỆN KHUÔN MẶT HAAR CASCADE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2562" y="1423521"/>
            <a:ext cx="8229842" cy="5065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Haar Cascade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Haar Cascade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model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(Haar Cascade face detection) Haar Cascade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Haar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lượt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(Cascade)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cỗ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LBPH (Local Binary Patterns Histogram)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ưu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:</a:t>
            </a:r>
            <a:endParaRPr lang="en-US" sz="2000" dirty="0"/>
          </a:p>
          <a:p>
            <a:pPr marL="914400" lvl="2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404" y="2317973"/>
            <a:ext cx="2957808" cy="2222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16" y="365125"/>
            <a:ext cx="1172005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CHƯƠNG 3:HIỆN THỰC HÓA NGHIÊN CỨU</a:t>
            </a:r>
            <a:endParaRPr 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974" y="1820236"/>
            <a:ext cx="6606687" cy="4555137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Tổng quan quá trình hiện thực hóa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Thu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35" y="2688737"/>
            <a:ext cx="3804138" cy="38041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QUY TRÌNH HỆ THỐNG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5552" y="1954213"/>
            <a:ext cx="40446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-Thu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ảnh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khuôn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mặt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khuôn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mặt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webcam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460" y="1448266"/>
            <a:ext cx="3848469" cy="25609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THU THẬP DỮ LIỆU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5510" y="1687497"/>
            <a:ext cx="8217310" cy="3483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Nguyên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collect_faces.py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(ID,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webcam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xám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Haar Cascade.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Cắt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(200×200 pixel).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-Lưu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dataset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User.&lt;ID&gt;.&lt;STT&gt;.jpg.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1" r="1" b="1"/>
          <a:stretch>
            <a:fillRect/>
          </a:stretch>
        </p:blipFill>
        <p:spPr>
          <a:xfrm>
            <a:off x="8305800" y="1468975"/>
            <a:ext cx="3540690" cy="3920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HUẤN LUYỆN MÔ HÌNH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270743" cy="320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x-none" sz="2000" b="1" dirty="0">
                <a:latin typeface="Arial" panose="020B0604020202020204" pitchFamily="34" charset="0"/>
                <a:cs typeface="Arial" panose="020B0604020202020204" pitchFamily="34" charset="0"/>
              </a:rPr>
              <a:t>Quy trình huấn luyện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 err="1"/>
              <a:t>Chương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train.py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</a:t>
            </a:r>
            <a:r>
              <a:rPr lang="en-US" sz="2000" dirty="0" err="1"/>
              <a:t>Đọc</a:t>
            </a:r>
            <a:r>
              <a:rPr lang="en-US" sz="2000" dirty="0"/>
              <a:t> </a:t>
            </a:r>
            <a:r>
              <a:rPr lang="en-US" sz="2000" dirty="0" err="1"/>
              <a:t>toàn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ảnh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thư</a:t>
            </a:r>
            <a:r>
              <a:rPr lang="en-US" sz="2000" dirty="0"/>
              <a:t> </a:t>
            </a:r>
            <a:r>
              <a:rPr lang="en-US" sz="2000" dirty="0" err="1"/>
              <a:t>mục</a:t>
            </a:r>
            <a:r>
              <a:rPr lang="en-US" sz="2000" dirty="0"/>
              <a:t> dataset.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</a:t>
            </a:r>
            <a:r>
              <a:rPr lang="en-US" sz="2000" dirty="0" err="1"/>
              <a:t>Trích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r>
              <a:rPr lang="en-US" sz="2000" dirty="0"/>
              <a:t> ID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file </a:t>
            </a:r>
            <a:r>
              <a:rPr lang="en-US" sz="2000" dirty="0" err="1"/>
              <a:t>ảnh</a:t>
            </a:r>
            <a:r>
              <a:rPr lang="en-US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</a:t>
            </a:r>
            <a:r>
              <a:rPr lang="en-US" sz="2000" dirty="0" err="1"/>
              <a:t>Đưa</a:t>
            </a:r>
            <a:r>
              <a:rPr lang="en-US" sz="2000" dirty="0"/>
              <a:t> </a:t>
            </a:r>
            <a:r>
              <a:rPr lang="en-US" sz="2000" dirty="0" err="1"/>
              <a:t>ảnh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nhãn</a:t>
            </a:r>
            <a:r>
              <a:rPr lang="en-US" sz="2000" dirty="0"/>
              <a:t> </a:t>
            </a:r>
            <a:r>
              <a:rPr lang="en-US" sz="2000" dirty="0" err="1"/>
              <a:t>tương</a:t>
            </a:r>
            <a:r>
              <a:rPr lang="en-US" sz="2000" dirty="0"/>
              <a:t> </a:t>
            </a:r>
            <a:r>
              <a:rPr lang="en-US" sz="2000" dirty="0" err="1"/>
              <a:t>ứng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LBPH.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</a:t>
            </a:r>
            <a:r>
              <a:rPr lang="en-US" sz="2000" dirty="0" err="1"/>
              <a:t>Huấn</a:t>
            </a:r>
            <a:r>
              <a:rPr lang="en-US" sz="2000" dirty="0"/>
              <a:t> </a:t>
            </a:r>
            <a:r>
              <a:rPr lang="en-US" sz="2000" dirty="0" err="1"/>
              <a:t>luyện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file </a:t>
            </a:r>
            <a:r>
              <a:rPr lang="en-US" sz="2000" dirty="0" err="1"/>
              <a:t>trainer.yml</a:t>
            </a:r>
            <a:r>
              <a:rPr lang="en-US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-File </a:t>
            </a:r>
            <a:r>
              <a:rPr lang="en-US" sz="2000" dirty="0" err="1"/>
              <a:t>trainer.yml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huấn</a:t>
            </a:r>
            <a:r>
              <a:rPr lang="en-US" sz="2000" dirty="0"/>
              <a:t> </a:t>
            </a:r>
            <a:r>
              <a:rPr lang="en-US" sz="2000" dirty="0" err="1"/>
              <a:t>luyện</a:t>
            </a:r>
            <a:r>
              <a:rPr lang="en-US" sz="2000" dirty="0"/>
              <a:t>,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giai</a:t>
            </a:r>
            <a:r>
              <a:rPr lang="en-US" sz="2000" dirty="0"/>
              <a:t> </a:t>
            </a:r>
            <a:r>
              <a:rPr lang="en-US" sz="2000" dirty="0" err="1"/>
              <a:t>đoạn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57737"/>
            <a:ext cx="3362325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NHẬN DIỆN THỜI GIAN THỰC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4915" y="1482062"/>
            <a:ext cx="5241148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x-none" sz="2000" b="1" dirty="0">
                <a:latin typeface="Arial" panose="020B0604020202020204" pitchFamily="34" charset="0"/>
                <a:cs typeface="Arial" panose="020B0604020202020204" pitchFamily="34" charset="0"/>
              </a:rPr>
              <a:t>Nhận diện và đánh giá độ tin cậy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Sau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cắt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resize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200×200.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LBPH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cậy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(confidence).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confidence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(65),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-Thông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SQLite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màn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confidence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nhằm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20" y="1899138"/>
            <a:ext cx="6616466" cy="36069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000" b="1" dirty="0">
                <a:latin typeface="Arial" panose="020B0604020202020204" pitchFamily="34" charset="0"/>
                <a:cs typeface="Arial" panose="020B0604020202020204" pitchFamily="34" charset="0"/>
              </a:rPr>
              <a:t>KẾT QUẢ ĐẠT ĐƯỢC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96593"/>
            <a:ext cx="4452620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-Phát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khuôn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mặt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ổn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định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-Hoạt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-Tốc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nhanh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-Dễ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Quản lý dữ liệu bằng SQLite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122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SQLite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bao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-ID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SQLite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42" y="2886790"/>
            <a:ext cx="3457575" cy="838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42" y="5453603"/>
            <a:ext cx="2238375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CHƯƠNG 4:</a:t>
            </a:r>
            <a:r>
              <a:rPr lang="x-none" sz="4000" b="1" dirty="0">
                <a:latin typeface="Arial" panose="020B0604020202020204" pitchFamily="34" charset="0"/>
                <a:cs typeface="Arial" panose="020B0604020202020204" pitchFamily="34" charset="0"/>
              </a:rPr>
              <a:t>KẾT QUẢ NGHIÊN CỨU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Kết quả đạt được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-Thu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video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webcam.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-Hiển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bao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Đánh giá hiệu năng hệ thống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x-none" sz="2000" b="1" dirty="0">
                <a:latin typeface="Arial" panose="020B0604020202020204" pitchFamily="34" charset="0"/>
                <a:cs typeface="Arial" panose="020B0604020202020204" pitchFamily="34" charset="0"/>
              </a:rPr>
              <a:t>Tốc độ xử lý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video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mượt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Trong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video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xảy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lag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Haar Cascade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ánh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nhìn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Tuy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ánh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khuất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x-none" sz="2200" b="1" dirty="0">
                <a:latin typeface="Arial" panose="020B0604020202020204" pitchFamily="34" charset="0"/>
                <a:cs typeface="Arial" panose="020B0604020202020204" pitchFamily="34" charset="0"/>
              </a:rPr>
              <a:t>Trải nghiệm người dùng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khởi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Giao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Tuy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chưa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họa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lai.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Nhận xét và đánh giá tổng quát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Nhìn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thấy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webcam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đáp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cạnh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vẫn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9" y="365125"/>
            <a:ext cx="1201501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CHƯƠNG 5:KẾT LUẬN VÀ HƯỚNG PHÁT TRIỂN</a:t>
            </a:r>
            <a:endParaRPr 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Kết luận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thấy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Haar Cascade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LBPH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vừa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b="1" dirty="0">
                <a:latin typeface="Arial" panose="020B0604020202020204" pitchFamily="34" charset="0"/>
                <a:cs typeface="Arial" panose="020B0604020202020204" pitchFamily="34" charset="0"/>
              </a:rPr>
              <a:t>Hướng phát triển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(Deep Learning).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dung.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nhúng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r>
              <a:rPr lang="en-US" sz="8000" b="1">
                <a:latin typeface="Arial" panose="020B0604020202020204" pitchFamily="34" charset="0"/>
                <a:cs typeface="Arial" panose="020B0604020202020204" pitchFamily="34" charset="0"/>
              </a:rPr>
              <a:t>THANKS YOU</a:t>
            </a:r>
            <a:endParaRPr lang="en-US" sz="8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7255</Words>
  <Application>WPS Presentation</Application>
  <PresentationFormat>Widescreen</PresentationFormat>
  <Paragraphs>181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PowerPoint 演示文稿</vt:lpstr>
      <vt:lpstr>CHƯƠNG 1:TỔNG QUAN</vt:lpstr>
      <vt:lpstr>GIỚI THIỆU ĐỀ TÀI</vt:lpstr>
      <vt:lpstr>ĐẶT VẤN ĐỀ</vt:lpstr>
      <vt:lpstr>CHƯƠNG 2:CƠ SỞ LÝ THUYẾT</vt:lpstr>
      <vt:lpstr>THỊ GIÁC MÁY TÍNH</vt:lpstr>
      <vt:lpstr>THƯ VIỆN OPENCV</vt:lpstr>
      <vt:lpstr>THUẬT TOÁN PHÁT HIỆN KHUÔN MẶT HAAR CASCADE</vt:lpstr>
      <vt:lpstr>CHƯƠNG 3:HIỆN THỰC HÓA NGHIÊN CỨU</vt:lpstr>
      <vt:lpstr>Tổng quan quá trình hiện thực hóa</vt:lpstr>
      <vt:lpstr>QUY TRÌNH HỆ THỐNG	</vt:lpstr>
      <vt:lpstr>THU THẬP DỮ LIỆU</vt:lpstr>
      <vt:lpstr>HUẤN LUYỆN MÔ HÌNH</vt:lpstr>
      <vt:lpstr>NHẬN DIỆN THỜI GIAN THỰC</vt:lpstr>
      <vt:lpstr>KẾT QUẢ ĐẠT ĐƯỢC</vt:lpstr>
      <vt:lpstr>Quản lý dữ liệu bằng SQLite</vt:lpstr>
      <vt:lpstr>CHƯƠNG 4:KẾT QUẢ NGHIÊN CỨU</vt:lpstr>
      <vt:lpstr>Kết quả đạt được</vt:lpstr>
      <vt:lpstr>Đánh giá hiệu năng hệ thống</vt:lpstr>
      <vt:lpstr>Nhận xét và đánh giá tổng quát</vt:lpstr>
      <vt:lpstr>CHƯƠNG 5:KẾT LUẬN VÀ HƯỚNG PHÁT TRIỂN</vt:lpstr>
      <vt:lpstr>Kết luận </vt:lpstr>
      <vt:lpstr>Hướng phát triển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Bao Truong</dc:creator>
  <cp:lastModifiedBy>Trương Thanh Bảo</cp:lastModifiedBy>
  <cp:revision>3</cp:revision>
  <dcterms:created xsi:type="dcterms:W3CDTF">2026-01-09T11:48:00Z</dcterms:created>
  <dcterms:modified xsi:type="dcterms:W3CDTF">2026-01-09T13:11:43Z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5B1FB0B063634CF385259601829AA578_12</vt:lpwstr>
  </property>
  <property fmtid="{D5CDD505-2E9C-101B-9397-08002B2CF9AE}" pid="3" name="KSOProductBuildVer">
    <vt:lpwstr>1033-12.2.0.23196</vt:lpwstr>
  </property>
</Properties>
</file>