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5.jpg" ContentType="image/jpeg"/>
  <Override PartName="/ppt/media/image7.jpg" ContentType="image/jpeg"/>
  <Override PartName="/ppt/media/image9.jpg" ContentType="image/jpeg"/>
  <Override PartName="/ppt/media/image10.jpg" ContentType="image/jpeg"/>
  <Override PartName="/ppt/media/image11.jpg" ContentType="image/jpeg"/>
  <Override PartName="/ppt/media/image12.jpg" ContentType="image/jpeg"/>
  <Override PartName="/ppt/media/image13.jpg" ContentType="image/jpeg"/>
  <Override PartName="/ppt/media/image14.jpg" ContentType="image/jpeg"/>
  <Override PartName="/ppt/media/image15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58" r:id="rId4"/>
    <p:sldId id="259" r:id="rId5"/>
    <p:sldId id="271" r:id="rId6"/>
    <p:sldId id="260" r:id="rId7"/>
    <p:sldId id="261" r:id="rId8"/>
    <p:sldId id="262" r:id="rId9"/>
    <p:sldId id="270" r:id="rId10"/>
    <p:sldId id="273" r:id="rId11"/>
    <p:sldId id="263" r:id="rId12"/>
    <p:sldId id="264" r:id="rId13"/>
    <p:sldId id="265" r:id="rId14"/>
    <p:sldId id="266" r:id="rId15"/>
    <p:sldId id="267" r:id="rId16"/>
    <p:sldId id="274" r:id="rId17"/>
    <p:sldId id="268" r:id="rId18"/>
    <p:sldId id="275" r:id="rId19"/>
    <p:sldId id="276" r:id="rId20"/>
    <p:sldId id="277" r:id="rId21"/>
    <p:sldId id="278" r:id="rId22"/>
    <p:sldId id="279" r:id="rId23"/>
    <p:sldId id="28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F2365-D689-FCAD-4287-C4CCF126E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131B1-F42D-A405-56A6-DF170CE8C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4E3CF-4392-A684-824D-92ED48C7D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540AA-4217-4EE8-6079-E2D237E09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71DD4-54FE-41BA-B6FA-6CBACC9E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7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7372-C8B1-F81A-56EA-99F2A7C09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2EA8D-C0EF-26EF-4DF5-850D0717BD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77C9F-DD17-1ED9-250E-0BA71C996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1EB76-E1FC-137F-F226-DAA5AC5FD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96C39-9BD4-A62F-C57C-8500E2E49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3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42C11-753A-E6A2-79AE-989E8190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9F7D3-A6AF-E965-E855-BD233B094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03C7D-7510-8E2C-0AC1-7B2D62FA3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65365-4204-10DE-57BC-ED53DB844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309FB-E9EB-8D1E-BDB0-AABBE58B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22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31683-7A7F-4C4E-0536-3E3AE4A93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2766D-CBFA-7EF6-04D4-E514CC56C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97A73F-89CB-C584-C27D-BF59016CF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7E818-E297-A272-0528-7DF90F6C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C3850-E15E-F86E-0834-164522274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65599-8366-378A-4155-52FBE722E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753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76F6-D7D1-7917-F153-3EF135025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7CBD7-AEA6-6D21-02DE-F7D905F5D7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F4E1A7-646A-2A0D-66D5-A5976734B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CE30D8-9149-BF9C-B6E1-5C42BC41CD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332E5-16F7-D77A-0166-A81AFF0FE0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3093CC-CCEA-F602-A037-55D54A40A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E0F9F5-677C-26A0-6817-E5F637DD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3266C-9410-6983-0ED6-7DAC69F9D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025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0F41-BDFA-36F6-5CBB-B1461D855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CE8D89-C7A3-EB56-F061-6C561A1CE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5C3701-A235-993C-AC11-ED6C078DE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BEBFCA-D09C-1397-C5D9-BCC313F8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97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AC15EA-79C4-8857-477B-0B98EC27F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73CA3-5A1B-F7F4-FC29-E63163B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491CC-312E-B465-89E6-05A1E48F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59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B4235-6A64-0D36-4F6C-3FC6F7D71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13D8A-FDB1-DCB6-7EBB-7C34AB3AD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B03C6-5498-7504-5930-2BDCB9437E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303C35-CC56-6F74-9DF1-D1164259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1997A1-066D-50EE-48CB-FD4543ACF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602B57-B70D-6178-C591-0038038A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30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3B48D-F056-A8D2-787D-A2FFE0477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F82015-ABBA-6A99-C569-E431D224E1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373556-6D34-F553-7B92-1B151D2C14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3C6DE-02C5-8FA7-903E-F346D23F0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5B73DE-DA92-7E40-6C97-C236D68F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20647-4AFC-AE1C-BD65-E4896D8C8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41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A7725-D79D-F72F-3A4A-4242D84E8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59952D-20A4-5211-7E4F-EB301DF7FF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F8BFD-6C01-63A3-26A5-7506390A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A4162-1A90-93D3-946A-80C3A118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2BD8B-7BDE-6756-A2D5-B73924C1E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645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698B77-BFAD-AD30-19C0-6B859DE3AF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4CFC44-78CC-AACA-BCDF-792481AFB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85034-DE73-B40A-137A-F670CCC6A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56F938-4197-9597-A65E-EFC8C1406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1D822-2881-06B1-4C5A-9B04BD3E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13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B72D30-125B-8900-AA5E-8FE07E3C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DEAC7F-612C-0865-B22C-73E805EE3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7A7BF-C74E-C80F-AA88-492ED54271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D0233E-43A8-4870-9DEC-1C669C6C5E8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242D-B978-C4BC-1E20-CC220CD5C3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E7B06-588E-4D09-F0A7-D7CCAFC75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B1EAC5-66A7-4060-B82C-0A16C00808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529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1E65A1-A518-BF35-2804-C00F881AB5A2}"/>
              </a:ext>
            </a:extLst>
          </p:cNvPr>
          <p:cNvSpPr txBox="1">
            <a:spLocks/>
          </p:cNvSpPr>
          <p:nvPr/>
        </p:nvSpPr>
        <p:spPr>
          <a:xfrm>
            <a:off x="755990" y="2697164"/>
            <a:ext cx="10874477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Tìm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OpenCV </a:t>
            </a:r>
            <a:b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webcam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435AE13-626E-AD03-5E9C-2386B66B4610}"/>
              </a:ext>
            </a:extLst>
          </p:cNvPr>
          <p:cNvSpPr txBox="1">
            <a:spLocks/>
          </p:cNvSpPr>
          <p:nvPr/>
        </p:nvSpPr>
        <p:spPr>
          <a:xfrm>
            <a:off x="365522" y="5202238"/>
            <a:ext cx="387391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Sinh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Họ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tên:Trương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Thanh Bảo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Lớp:DA23TTB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MSSV:110123074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48806-3392-B4CA-366D-422ECC5C5652}"/>
              </a:ext>
            </a:extLst>
          </p:cNvPr>
          <p:cNvSpPr txBox="1"/>
          <p:nvPr/>
        </p:nvSpPr>
        <p:spPr>
          <a:xfrm>
            <a:off x="3485266" y="193054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ĐỒ ÁN CƠ SỞ NGÀNH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011671-9098-3DC3-51D4-0A27923BB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206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993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13017-8B49-C57D-9D71-B896D5FD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CHƯƠNG 1:TỔNG QUAN</a:t>
            </a:r>
            <a:endParaRPr lang="en-US" sz="4000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365329-9310-1105-8763-68C92F3EE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620550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509EB-09F5-98E4-AB34-6A5332030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1C2EC-1C6D-8085-A543-E75893EDA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2326"/>
            <a:ext cx="63865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Tìm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OpenCV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webcam</a:t>
            </a:r>
          </a:p>
          <a:p>
            <a:pPr marL="0" indent="0">
              <a:buNone/>
            </a:pP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-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Tìm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giác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	-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OpenCV,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cài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đặt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	-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OpenCV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	-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	-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Làm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nâng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	  	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giám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sát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minh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lai.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CD50CF-5B19-8FB7-252B-77C9F0752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4765" y="2763296"/>
            <a:ext cx="4464795" cy="263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961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2A4E2-6E97-D90F-D9BB-39E6B6605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ĐẶT VẤN ĐỀ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7D37A3-F7A1-9AB3-A64E-9616611F9A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9373" y="1471659"/>
            <a:ext cx="10921181" cy="2523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Trong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tuệ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giác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ngày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càng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lĩnh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ninh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giám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trắc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nền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tảng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Nhận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Điểm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giám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ninh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809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54E6A-3322-DF71-91E2-FBEB6AE8D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CHƯƠNG 2:</a:t>
            </a:r>
            <a:r>
              <a:rPr lang="vi-VN" sz="4000" b="1" dirty="0">
                <a:latin typeface="Arial" panose="020B0604020202020204" pitchFamily="34" charset="0"/>
                <a:cs typeface="Arial" panose="020B0604020202020204" pitchFamily="34" charset="0"/>
              </a:rPr>
              <a:t>CƠ SỞ LÝ THUYẾT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CC24E43-55A4-8679-9AE2-2AC02181EC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157" y="1496994"/>
            <a:ext cx="5361006" cy="5361006"/>
          </a:xfrm>
        </p:spPr>
      </p:pic>
    </p:spTree>
    <p:extLst>
      <p:ext uri="{BB962C8B-B14F-4D97-AF65-F5344CB8AC3E}">
        <p14:creationId xmlns:p14="http://schemas.microsoft.com/office/powerpoint/2010/main" val="349102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7E661-FD48-0228-C459-59DFA7E9F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THỊ </a:t>
            </a:r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GIÁC MÁY TÍNH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24CBD6-73BB-8F84-8303-2AF4FCF62B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536798"/>
            <a:ext cx="11847871" cy="3385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Thị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(Computer vision)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lĩnh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tuệ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(AI)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phép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video,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nhằm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biến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cải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biểu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diễn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(pixel),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mỗi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màu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sắc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bước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-Thu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Tiền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Trích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trưng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35BF8E-74C8-B1F9-5A44-FB37D8C37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455" y="3467841"/>
            <a:ext cx="4314092" cy="310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08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3526-73D1-8200-3606-F4C7A7156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3200" b="1" dirty="0">
                <a:latin typeface="Arial" panose="020B0604020202020204" pitchFamily="34" charset="0"/>
                <a:cs typeface="Arial" panose="020B0604020202020204" pitchFamily="34" charset="0"/>
              </a:rPr>
              <a:t>THƯ VIỆN OPENCV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EEBB22B-B6D1-DA6C-EAEA-A24E8D0287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8395" y="1937758"/>
            <a:ext cx="10875209" cy="33906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OpenCV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tắt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Open-Source Computer Vision Library)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nguồn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chuyên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Công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video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đến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dõi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OpenCV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Ứng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Nhận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đối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tượng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-Theo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dõi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chuyển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362546-EF8D-A125-D985-6BEE450C82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1687" y="3845666"/>
            <a:ext cx="2445738" cy="301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806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5391-C64E-D035-6A63-28E1C15B0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442" y="374957"/>
            <a:ext cx="11511116" cy="1325563"/>
          </a:xfrm>
        </p:spPr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THUẬT TOÁN PHÁT HIỆN KHUÔN MẶT HAAR CASCADE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2EA0E83-6AA4-A910-EE74-32F12F81AA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2562" y="1423521"/>
            <a:ext cx="8229842" cy="50654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Haar Cascade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xem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những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Haar Cascade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model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chúng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(Haar Cascade face detection) Haar Cascade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Haar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sau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trưng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lượt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(Cascade)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cỗ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hoàn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chỉnh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en-US" sz="2000" dirty="0" err="1"/>
              <a:t>Hệ</a:t>
            </a:r>
            <a:r>
              <a:rPr lang="en-US" sz="2000" dirty="0"/>
              <a:t> </a:t>
            </a:r>
            <a:r>
              <a:rPr lang="en-US" sz="2000" dirty="0" err="1"/>
              <a:t>thống</a:t>
            </a:r>
            <a:r>
              <a:rPr lang="en-US" sz="2000" dirty="0"/>
              <a:t> </a:t>
            </a:r>
            <a:r>
              <a:rPr lang="en-US" sz="2000" dirty="0" err="1"/>
              <a:t>sử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 </a:t>
            </a:r>
            <a:r>
              <a:rPr lang="en-US" sz="2000" dirty="0" err="1"/>
              <a:t>thuật</a:t>
            </a:r>
            <a:r>
              <a:rPr lang="en-US" sz="2000" dirty="0"/>
              <a:t> </a:t>
            </a:r>
            <a:r>
              <a:rPr lang="en-US" sz="2000" dirty="0" err="1"/>
              <a:t>toán</a:t>
            </a:r>
            <a:r>
              <a:rPr lang="en-US" sz="2000" dirty="0"/>
              <a:t> LBPH (Local Binary Patterns Histogram) </a:t>
            </a:r>
            <a:r>
              <a:rPr lang="en-US" sz="2000" dirty="0" err="1"/>
              <a:t>với</a:t>
            </a:r>
            <a:r>
              <a:rPr lang="en-US" sz="2000" dirty="0"/>
              <a:t> </a:t>
            </a:r>
            <a:r>
              <a:rPr lang="en-US" sz="2000" dirty="0" err="1"/>
              <a:t>các</a:t>
            </a:r>
            <a:r>
              <a:rPr lang="en-US" sz="2000" dirty="0"/>
              <a:t> </a:t>
            </a:r>
            <a:r>
              <a:rPr lang="en-US" sz="2000" dirty="0" err="1"/>
              <a:t>ưu</a:t>
            </a:r>
            <a:r>
              <a:rPr lang="en-US" sz="2000" dirty="0"/>
              <a:t> </a:t>
            </a:r>
            <a:r>
              <a:rPr lang="en-US" sz="2000" dirty="0" err="1"/>
              <a:t>điểm</a:t>
            </a:r>
            <a:r>
              <a:rPr lang="en-US" sz="2000" dirty="0"/>
              <a:t>:</a:t>
            </a:r>
          </a:p>
          <a:p>
            <a:pPr marL="914400" lvl="2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đặt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vi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đồ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án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Ưu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điểm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Dễ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triển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khai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Phù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hợp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thời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E28D0A-D3BC-34BF-6838-835A8B4EF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404" y="2317973"/>
            <a:ext cx="2957808" cy="222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0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945A1-98B9-EA4C-5AF3-5CD08092B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316" y="365125"/>
            <a:ext cx="1172005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CHƯƠNG 3:HIỆN THỰC HÓA NGHIÊN CỨU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E34281-CBCF-8148-228B-E35482CBF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974" y="1820236"/>
            <a:ext cx="6606687" cy="4555137"/>
          </a:xfrm>
        </p:spPr>
      </p:pic>
    </p:spTree>
    <p:extLst>
      <p:ext uri="{BB962C8B-B14F-4D97-AF65-F5344CB8AC3E}">
        <p14:creationId xmlns:p14="http://schemas.microsoft.com/office/powerpoint/2010/main" val="3391291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D9696-C156-1FE2-129C-116FAA12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Tổng quan quá trình hiện thực hóa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8F00B-0AAE-AC6A-B8AD-E20049A62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tuần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đoạn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 Thu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thập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Huấn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9BFF7-1383-6653-77C6-6B0F348F78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035" y="2688737"/>
            <a:ext cx="3804138" cy="380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79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4D895-DDF1-A45B-3306-D0DCCBF9C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QUY TRÌNH HỆ THỐNG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82206E1-C9F7-60B3-F3E8-0559F83F55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6187" y="1690688"/>
            <a:ext cx="4044697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-Thu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thập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ảnh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Huấn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luyện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mô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hình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Nhận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từ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webcam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2C3A53-C5CB-8CAC-F965-01BE52450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300" y="3266906"/>
            <a:ext cx="3848469" cy="256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785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10DDC-9EE4-D876-F4B6-D99819AE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THU THẬP DỮ LIỆU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3B04DD-6B52-13AB-0F2E-DC6D6598EE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5510" y="1687497"/>
            <a:ext cx="8217310" cy="34830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Nguyên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collect_faces.py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bước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(ID,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webcam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sang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Haar Cascade.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Cắt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chuẩn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thước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(200×200 pixel).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-Lưu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dataset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User.&lt;ID&gt;.&lt;STT&gt;.jpg.</a:t>
            </a:r>
          </a:p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chuẩn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thước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đồng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huấn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BEACD-7860-850F-F1B0-22F670995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61" r="1" b="1"/>
          <a:stretch>
            <a:fillRect/>
          </a:stretch>
        </p:blipFill>
        <p:spPr>
          <a:xfrm>
            <a:off x="8305800" y="1468975"/>
            <a:ext cx="3540690" cy="392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27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D987E-7AD9-7BC5-72A7-1BAECC13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HUẤN LUYỆN MÔ HÌNH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0E5AD2B-1BEC-D147-6105-0A8E9B3CA8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9270743" cy="32078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x-none" sz="2000" b="1" dirty="0">
                <a:latin typeface="Arial" panose="020B0604020202020204" pitchFamily="34" charset="0"/>
                <a:cs typeface="Arial" panose="020B0604020202020204" pitchFamily="34" charset="0"/>
              </a:rPr>
              <a:t>Quy trình huấn luyện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 err="1"/>
              <a:t>Chương</a:t>
            </a:r>
            <a:r>
              <a:rPr lang="en-US" sz="2000" dirty="0"/>
              <a:t> </a:t>
            </a:r>
            <a:r>
              <a:rPr lang="en-US" sz="2000" dirty="0" err="1"/>
              <a:t>trình</a:t>
            </a:r>
            <a:r>
              <a:rPr lang="en-US" sz="2000" dirty="0"/>
              <a:t> train.py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hiện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r>
              <a:rPr lang="en-US" sz="2000" dirty="0"/>
              <a:t>-</a:t>
            </a:r>
            <a:r>
              <a:rPr lang="en-US" sz="2000" dirty="0" err="1"/>
              <a:t>Đọc</a:t>
            </a:r>
            <a:r>
              <a:rPr lang="en-US" sz="2000" dirty="0"/>
              <a:t> </a:t>
            </a:r>
            <a:r>
              <a:rPr lang="en-US" sz="2000" dirty="0" err="1"/>
              <a:t>toàn</a:t>
            </a:r>
            <a:r>
              <a:rPr lang="en-US" sz="2000" dirty="0"/>
              <a:t> </a:t>
            </a:r>
            <a:r>
              <a:rPr lang="en-US" sz="2000" dirty="0" err="1"/>
              <a:t>bộ</a:t>
            </a:r>
            <a:r>
              <a:rPr lang="en-US" sz="2000" dirty="0"/>
              <a:t> </a:t>
            </a:r>
            <a:r>
              <a:rPr lang="en-US" sz="2000" dirty="0" err="1"/>
              <a:t>ảnh</a:t>
            </a:r>
            <a:r>
              <a:rPr lang="en-US" sz="2000" dirty="0"/>
              <a:t> </a:t>
            </a:r>
            <a:r>
              <a:rPr lang="en-US" sz="2000" dirty="0" err="1"/>
              <a:t>trong</a:t>
            </a:r>
            <a:r>
              <a:rPr lang="en-US" sz="2000" dirty="0"/>
              <a:t> </a:t>
            </a:r>
            <a:r>
              <a:rPr lang="en-US" sz="2000" dirty="0" err="1"/>
              <a:t>thư</a:t>
            </a:r>
            <a:r>
              <a:rPr lang="en-US" sz="2000" dirty="0"/>
              <a:t> </a:t>
            </a:r>
            <a:r>
              <a:rPr lang="en-US" sz="2000" dirty="0" err="1"/>
              <a:t>mục</a:t>
            </a:r>
            <a:r>
              <a:rPr lang="en-US" sz="2000" dirty="0"/>
              <a:t> dataset.</a:t>
            </a:r>
          </a:p>
          <a:p>
            <a:pPr marL="0" indent="0">
              <a:buNone/>
            </a:pPr>
            <a:r>
              <a:rPr lang="en-US" sz="2000" dirty="0"/>
              <a:t>-</a:t>
            </a:r>
            <a:r>
              <a:rPr lang="en-US" sz="2000" dirty="0" err="1"/>
              <a:t>Trích</a:t>
            </a:r>
            <a:r>
              <a:rPr lang="en-US" sz="2000" dirty="0"/>
              <a:t> </a:t>
            </a:r>
            <a:r>
              <a:rPr lang="en-US" sz="2000" dirty="0" err="1"/>
              <a:t>xuất</a:t>
            </a:r>
            <a:r>
              <a:rPr lang="en-US" sz="2000" dirty="0"/>
              <a:t> ID </a:t>
            </a:r>
            <a:r>
              <a:rPr lang="en-US" sz="2000" dirty="0" err="1"/>
              <a:t>người</a:t>
            </a:r>
            <a:r>
              <a:rPr lang="en-US" sz="2000" dirty="0"/>
              <a:t> </a:t>
            </a:r>
            <a:r>
              <a:rPr lang="en-US" sz="2000" dirty="0" err="1"/>
              <a:t>dùng</a:t>
            </a:r>
            <a:r>
              <a:rPr lang="en-US" sz="2000" dirty="0"/>
              <a:t> </a:t>
            </a:r>
            <a:r>
              <a:rPr lang="en-US" sz="2000" dirty="0" err="1"/>
              <a:t>từ</a:t>
            </a:r>
            <a:r>
              <a:rPr lang="en-US" sz="2000" dirty="0"/>
              <a:t> </a:t>
            </a:r>
            <a:r>
              <a:rPr lang="en-US" sz="2000" dirty="0" err="1"/>
              <a:t>tên</a:t>
            </a:r>
            <a:r>
              <a:rPr lang="en-US" sz="2000" dirty="0"/>
              <a:t> file </a:t>
            </a:r>
            <a:r>
              <a:rPr lang="en-US" sz="2000" dirty="0" err="1"/>
              <a:t>ảnh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-</a:t>
            </a:r>
            <a:r>
              <a:rPr lang="en-US" sz="2000" dirty="0" err="1"/>
              <a:t>Đưa</a:t>
            </a:r>
            <a:r>
              <a:rPr lang="en-US" sz="2000" dirty="0"/>
              <a:t> </a:t>
            </a:r>
            <a:r>
              <a:rPr lang="en-US" sz="2000" dirty="0" err="1"/>
              <a:t>ảnh</a:t>
            </a:r>
            <a:r>
              <a:rPr lang="en-US" sz="2000" dirty="0"/>
              <a:t>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nhãn</a:t>
            </a:r>
            <a:r>
              <a:rPr lang="en-US" sz="2000" dirty="0"/>
              <a:t> </a:t>
            </a:r>
            <a:r>
              <a:rPr lang="en-US" sz="2000" dirty="0" err="1"/>
              <a:t>tương</a:t>
            </a:r>
            <a:r>
              <a:rPr lang="en-US" sz="2000" dirty="0"/>
              <a:t> </a:t>
            </a:r>
            <a:r>
              <a:rPr lang="en-US" sz="2000" dirty="0" err="1"/>
              <a:t>ứng</a:t>
            </a:r>
            <a:r>
              <a:rPr lang="en-US" sz="2000" dirty="0"/>
              <a:t> </a:t>
            </a:r>
            <a:r>
              <a:rPr lang="en-US" sz="2000" dirty="0" err="1"/>
              <a:t>vào</a:t>
            </a:r>
            <a:r>
              <a:rPr lang="en-US" sz="2000" dirty="0"/>
              <a:t> </a:t>
            </a:r>
            <a:r>
              <a:rPr lang="en-US" sz="2000" dirty="0" err="1"/>
              <a:t>mô</a:t>
            </a:r>
            <a:r>
              <a:rPr lang="en-US" sz="2000" dirty="0"/>
              <a:t> </a:t>
            </a:r>
            <a:r>
              <a:rPr lang="en-US" sz="2000" dirty="0" err="1"/>
              <a:t>hình</a:t>
            </a:r>
            <a:r>
              <a:rPr lang="en-US" sz="2000" dirty="0"/>
              <a:t> LBPH.</a:t>
            </a:r>
          </a:p>
          <a:p>
            <a:pPr marL="0" indent="0">
              <a:buNone/>
            </a:pPr>
            <a:r>
              <a:rPr lang="en-US" sz="2000" dirty="0"/>
              <a:t>-</a:t>
            </a:r>
            <a:r>
              <a:rPr lang="en-US" sz="2000" dirty="0" err="1"/>
              <a:t>Huấn</a:t>
            </a:r>
            <a:r>
              <a:rPr lang="en-US" sz="2000" dirty="0"/>
              <a:t> </a:t>
            </a:r>
            <a:r>
              <a:rPr lang="en-US" sz="2000" dirty="0" err="1"/>
              <a:t>luyện</a:t>
            </a:r>
            <a:r>
              <a:rPr lang="en-US" sz="2000" dirty="0"/>
              <a:t> </a:t>
            </a:r>
            <a:r>
              <a:rPr lang="en-US" sz="2000" dirty="0" err="1"/>
              <a:t>mô</a:t>
            </a:r>
            <a:r>
              <a:rPr lang="en-US" sz="2000" dirty="0"/>
              <a:t> </a:t>
            </a:r>
            <a:r>
              <a:rPr lang="en-US" sz="2000" dirty="0" err="1"/>
              <a:t>hình</a:t>
            </a:r>
            <a:r>
              <a:rPr lang="en-US" sz="2000" dirty="0"/>
              <a:t>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lưu</a:t>
            </a:r>
            <a:r>
              <a:rPr lang="en-US" sz="2000" dirty="0"/>
              <a:t> </a:t>
            </a:r>
            <a:r>
              <a:rPr lang="en-US" sz="2000" dirty="0" err="1"/>
              <a:t>kết</a:t>
            </a:r>
            <a:r>
              <a:rPr lang="en-US" sz="2000" dirty="0"/>
              <a:t> </a:t>
            </a:r>
            <a:r>
              <a:rPr lang="en-US" sz="2000" dirty="0" err="1"/>
              <a:t>quả</a:t>
            </a:r>
            <a:r>
              <a:rPr lang="en-US" sz="2000" dirty="0"/>
              <a:t> </a:t>
            </a:r>
            <a:r>
              <a:rPr lang="en-US" sz="2000" dirty="0" err="1"/>
              <a:t>vào</a:t>
            </a:r>
            <a:r>
              <a:rPr lang="en-US" sz="2000" dirty="0"/>
              <a:t> file </a:t>
            </a:r>
            <a:r>
              <a:rPr lang="en-US" sz="2000" dirty="0" err="1"/>
              <a:t>trainer.yml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-File </a:t>
            </a:r>
            <a:r>
              <a:rPr lang="en-US" sz="2000" dirty="0" err="1"/>
              <a:t>trainer.yml</a:t>
            </a:r>
            <a:r>
              <a:rPr lang="en-US" sz="2000" dirty="0"/>
              <a:t> </a:t>
            </a:r>
            <a:r>
              <a:rPr lang="en-US" sz="2000" dirty="0" err="1"/>
              <a:t>là</a:t>
            </a:r>
            <a:r>
              <a:rPr lang="en-US" sz="2000" dirty="0"/>
              <a:t> </a:t>
            </a:r>
            <a:r>
              <a:rPr lang="en-US" sz="2000" dirty="0" err="1"/>
              <a:t>kết</a:t>
            </a:r>
            <a:r>
              <a:rPr lang="en-US" sz="2000" dirty="0"/>
              <a:t> </a:t>
            </a:r>
            <a:r>
              <a:rPr lang="en-US" sz="2000" dirty="0" err="1"/>
              <a:t>quả</a:t>
            </a:r>
            <a:r>
              <a:rPr lang="en-US" sz="2000" dirty="0"/>
              <a:t> </a:t>
            </a:r>
            <a:r>
              <a:rPr lang="en-US" sz="2000" dirty="0" err="1"/>
              <a:t>huấn</a:t>
            </a:r>
            <a:r>
              <a:rPr lang="en-US" sz="2000" dirty="0"/>
              <a:t> </a:t>
            </a:r>
            <a:r>
              <a:rPr lang="en-US" sz="2000" dirty="0" err="1"/>
              <a:t>luyện</a:t>
            </a:r>
            <a:r>
              <a:rPr lang="en-US" sz="2000" dirty="0"/>
              <a:t>, </a:t>
            </a:r>
            <a:r>
              <a:rPr lang="en-US" sz="2000" dirty="0" err="1"/>
              <a:t>được</a:t>
            </a:r>
            <a:r>
              <a:rPr lang="en-US" sz="2000" dirty="0"/>
              <a:t> </a:t>
            </a:r>
            <a:r>
              <a:rPr lang="en-US" sz="2000" dirty="0" err="1"/>
              <a:t>sử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 </a:t>
            </a:r>
            <a:r>
              <a:rPr lang="en-US" sz="2000" dirty="0" err="1"/>
              <a:t>lại</a:t>
            </a:r>
            <a:r>
              <a:rPr lang="en-US" sz="2000" dirty="0"/>
              <a:t> </a:t>
            </a:r>
            <a:r>
              <a:rPr lang="en-US" sz="2000" dirty="0" err="1"/>
              <a:t>trong</a:t>
            </a:r>
            <a:r>
              <a:rPr lang="en-US" sz="2000" dirty="0"/>
              <a:t> </a:t>
            </a:r>
            <a:r>
              <a:rPr lang="en-US" sz="2000" dirty="0" err="1"/>
              <a:t>giai</a:t>
            </a:r>
            <a:r>
              <a:rPr lang="en-US" sz="2000" dirty="0"/>
              <a:t> </a:t>
            </a:r>
            <a:r>
              <a:rPr lang="en-US" sz="2000" dirty="0" err="1"/>
              <a:t>đoạn</a:t>
            </a:r>
            <a:r>
              <a:rPr lang="en-US" sz="2000" dirty="0"/>
              <a:t> </a:t>
            </a:r>
            <a:r>
              <a:rPr lang="en-US" sz="2000" dirty="0" err="1"/>
              <a:t>nhận</a:t>
            </a:r>
            <a:r>
              <a:rPr lang="en-US" sz="2000" dirty="0"/>
              <a:t> </a:t>
            </a:r>
            <a:r>
              <a:rPr lang="en-US" sz="2000" dirty="0" err="1"/>
              <a:t>diện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361F88-2FCB-D6B4-45D1-34C458E0D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57737"/>
            <a:ext cx="3362325" cy="4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248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ADFCB-1C0F-65DF-037C-78D16369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  <a:t>NHẬN DIỆN THỜI GIAN THỰC</a:t>
            </a:r>
            <a:endParaRPr 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3DFD62-99AC-C741-8BA1-B08244D6E6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4915" y="1482062"/>
            <a:ext cx="5241148" cy="4739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x-none" sz="2000" b="1" dirty="0">
                <a:latin typeface="Arial" panose="020B0604020202020204" pitchFamily="34" charset="0"/>
                <a:cs typeface="Arial" panose="020B0604020202020204" pitchFamily="34" charset="0"/>
              </a:rPr>
              <a:t>Nhận diện và đánh giá độ tin cậy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Sau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cắt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resize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thước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200×200.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LBPH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cậy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(confidence).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Nếu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confidence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(65),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coi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-Thông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SQLite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màn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confidence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lựa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chọn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nghiệm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nhằm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giảm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thiểu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5A6F3-04D0-2657-2FEC-5A7941EC8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620" y="1899138"/>
            <a:ext cx="6616466" cy="360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072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58134-26F0-8863-F12A-69E64AF16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4000" b="1" dirty="0">
                <a:latin typeface="Arial" panose="020B0604020202020204" pitchFamily="34" charset="0"/>
                <a:cs typeface="Arial" panose="020B0604020202020204" pitchFamily="34" charset="0"/>
              </a:rPr>
              <a:t>KẾT QUẢ ĐẠT ĐƯỢC</a:t>
            </a:r>
            <a:endParaRPr 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A93090E-6081-DC23-5F81-A82212EFBE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95909"/>
            <a:ext cx="44101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khuôn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mặt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ổn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định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tốt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trong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sáng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thường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Tốc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độ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xử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lý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nhanh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Dễ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sử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dụng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264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28522-5923-E513-F8DF-0CEA1105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Quản lý dữ liệu bằng SQLite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AFFC2-D14D-B82B-AC05-7BFDE1D81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22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SQLite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bao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-ID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dung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SQLite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dàng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cài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phức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tạp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bình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2E6DDE-627E-FF1A-0AE2-D141C3328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442" y="2886790"/>
            <a:ext cx="3457575" cy="838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2242EE-4934-8872-E767-6029B86E20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442" y="5453603"/>
            <a:ext cx="2238375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33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D06DA-A0A6-F6D9-7344-0903FCD5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CHƯƠNG 4:</a:t>
            </a:r>
            <a:r>
              <a:rPr lang="x-none" sz="40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A5457D-B5D0-A56A-C1B5-3135A24BC6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2616037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ADBBC-9650-5764-7692-A6198B153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Kết quả đạt được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A04A0-E86E-8D00-7501-30D0901F2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-Thu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video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webcam.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-Hiển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bao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thường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1191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5494F-5A76-2BBA-5780-CC55135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Đánh giá hiệu năng hệ thống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EBB77-4B8C-82CA-1CDE-DCDE12AFE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x-none" sz="2000" b="1" dirty="0">
                <a:latin typeface="Arial" panose="020B0604020202020204" pitchFamily="34" charset="0"/>
                <a:cs typeface="Arial" panose="020B0604020202020204" pitchFamily="34" charset="0"/>
              </a:rPr>
              <a:t>Tốc độ xử lý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tốc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video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mượt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Trong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thường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video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xảy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lag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Haar Cascade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tốt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ánh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nhìn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Tuy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ánh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khuất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giảm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x-none" sz="2200" b="1" dirty="0">
                <a:latin typeface="Arial" panose="020B0604020202020204" pitchFamily="34" charset="0"/>
                <a:cs typeface="Arial" panose="020B0604020202020204" pitchFamily="34" charset="0"/>
              </a:rPr>
              <a:t>Trải nghiệm người dùng</a:t>
            </a: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góc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đơn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giản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phức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tạp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sát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ngay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lập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tức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Giao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dàng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dõi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quá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 Tuy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nhiên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chưa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đồ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họa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chuyên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đây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cải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thiện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lai.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448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E180-9816-2570-436C-D721222D2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Nhận xét và đánh giá tổng quát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9A578-C142-E38A-00FD-BD6C21B7D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Nhìn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thấy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ban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webcam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đáp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tốt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cạnh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những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vẫn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còn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chế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trường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phức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tạp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Những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chế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571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AB1B1-3306-66A8-5A61-86F95BE0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9" y="365125"/>
            <a:ext cx="12015018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CHƯƠNG 5:KẾT LUẬN VÀ HƯỚNG PHÁT TRIỂN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D6FBC6-62FB-73E7-B902-CD16A76CC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11220595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43371-6044-EA5D-7BB4-728EB6B1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/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Kết luận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1FDD-406D-4B3E-65EB-4BF64531B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nghiệm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thấy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điều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thường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Haar Cascade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LBPH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đoạn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tốt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vừa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052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F0E4-8300-8A6D-91F5-208B0D060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x-none" sz="3200" b="1" dirty="0">
                <a:latin typeface="Arial" panose="020B0604020202020204" pitchFamily="34" charset="0"/>
                <a:cs typeface="Arial" panose="020B0604020202020204" pitchFamily="34" charset="0"/>
              </a:rPr>
              <a:t>Hướng phát triển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DD9DB-EB94-B663-FB05-E5A5C6C06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Trong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tục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cải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sau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Áp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sâu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(Deep Learning).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khuôn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mặt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đại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rộng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huấn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lượng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lớn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Cải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dung.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nhúng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601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1764</Words>
  <Application>Microsoft Office PowerPoint</Application>
  <PresentationFormat>Widescreen</PresentationFormat>
  <Paragraphs>124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PowerPoint Presentation</vt:lpstr>
      <vt:lpstr>CHƯƠNG 1:TỔNG QUAN</vt:lpstr>
      <vt:lpstr>GIỚI THIỆU ĐỀ TÀI</vt:lpstr>
      <vt:lpstr>ĐẶT VẤN ĐỀ</vt:lpstr>
      <vt:lpstr>CHƯƠNG 2:CƠ SỞ LÝ THUYẾT</vt:lpstr>
      <vt:lpstr>THỊ GIÁC MÁY TÍNH</vt:lpstr>
      <vt:lpstr>THƯ VIỆN OPENCV</vt:lpstr>
      <vt:lpstr>THUẬT TOÁN PHÁT HIỆN KHUÔN MẶT HAAR CASCADE</vt:lpstr>
      <vt:lpstr>CHƯƠNG 3:HIỆN THỰC HÓA NGHIÊN CỨU</vt:lpstr>
      <vt:lpstr>Tổng quan quá trình hiện thực hóa</vt:lpstr>
      <vt:lpstr>QUY TRÌNH HỆ THỐNG </vt:lpstr>
      <vt:lpstr>THU THẬP DỮ LIỆU</vt:lpstr>
      <vt:lpstr>HUẤN LUYỆN MÔ HÌNH</vt:lpstr>
      <vt:lpstr>NHẬN DIỆN THỜI GIAN THỰC</vt:lpstr>
      <vt:lpstr>KẾT QUẢ ĐẠT ĐƯỢC</vt:lpstr>
      <vt:lpstr>Quản lý dữ liệu bằng SQLite</vt:lpstr>
      <vt:lpstr>CHƯƠNG 4:KẾT QUẢ NGHIÊN CỨU</vt:lpstr>
      <vt:lpstr>Kết quả đạt được</vt:lpstr>
      <vt:lpstr>Đánh giá hiệu năng hệ thống</vt:lpstr>
      <vt:lpstr>Nhận xét và đánh giá tổng quát</vt:lpstr>
      <vt:lpstr>CHƯƠNG 5:KẾT LUẬN VÀ HƯỚNG PHÁT TRIỂN</vt:lpstr>
      <vt:lpstr>Kết luận </vt:lpstr>
      <vt:lpstr>Hướng phát triển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Bao Truong</dc:creator>
  <cp:lastModifiedBy>Thanh Bao Truong</cp:lastModifiedBy>
  <cp:revision>1</cp:revision>
  <dcterms:created xsi:type="dcterms:W3CDTF">2026-01-09T11:48:21Z</dcterms:created>
  <dcterms:modified xsi:type="dcterms:W3CDTF">2026-01-09T12:59:26Z</dcterms:modified>
</cp:coreProperties>
</file>